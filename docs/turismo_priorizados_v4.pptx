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d3c3d5e10e4fd4" /><Relationship Type="http://schemas.openxmlformats.org/officeDocument/2006/relationships/extended-properties" Target="/docProps/app.xml" Id="R79753ede5b484426" /><Relationship Type="http://schemas.openxmlformats.org/officeDocument/2006/relationships/officeDocument" Target="/ppt/presentation.xml" Id="Rb0d4145d3c3341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3379d8c58946b0"/>
  </p:sldMasterIdLst>
  <p:notesMasterIdLst>
    <p:notesMasterId xmlns:r="http://schemas.openxmlformats.org/officeDocument/2006/relationships" r:id="R92c16b0dd2a24cd9"/>
  </p:notesMasterIdLst>
  <p:sldIdLst>
    <p:sldId xmlns:r="http://schemas.openxmlformats.org/officeDocument/2006/relationships" id="256" r:id="R327c3cd8816b4631"/>
    <p:sldId xmlns:r="http://schemas.openxmlformats.org/officeDocument/2006/relationships" id="257" r:id="R254601257ebd4ae8"/>
    <p:sldId xmlns:r="http://schemas.openxmlformats.org/officeDocument/2006/relationships" id="258" r:id="R8caa397c13e74124"/>
    <p:sldId xmlns:r="http://schemas.openxmlformats.org/officeDocument/2006/relationships" id="259" r:id="R6c580d793c9a4929"/>
    <p:sldId xmlns:r="http://schemas.openxmlformats.org/officeDocument/2006/relationships" id="260" r:id="R6d35b203190f4bda"/>
    <p:sldId xmlns:r="http://schemas.openxmlformats.org/officeDocument/2006/relationships" id="261" r:id="R40ddc645ca264045"/>
    <p:sldId xmlns:r="http://schemas.openxmlformats.org/officeDocument/2006/relationships" id="262" r:id="Rad176b99ee834361"/>
    <p:sldId xmlns:r="http://schemas.openxmlformats.org/officeDocument/2006/relationships" id="263" r:id="Re51c10ce38a34cc8"/>
    <p:sldId xmlns:r="http://schemas.openxmlformats.org/officeDocument/2006/relationships" id="264" r:id="Rff39eb58cda24c04"/>
    <p:sldId xmlns:r="http://schemas.openxmlformats.org/officeDocument/2006/relationships" id="265" r:id="R16c69861b16c4692"/>
    <p:sldId xmlns:r="http://schemas.openxmlformats.org/officeDocument/2006/relationships" id="266" r:id="R1270de89da994ba6"/>
    <p:sldId xmlns:r="http://schemas.openxmlformats.org/officeDocument/2006/relationships" id="267" r:id="R5e6e885c6d294839"/>
    <p:sldId xmlns:r="http://schemas.openxmlformats.org/officeDocument/2006/relationships" id="268" r:id="Ra4254db68da348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af51d3d2ed4272" /><Relationship Type="http://schemas.openxmlformats.org/officeDocument/2006/relationships/slideMaster" Target="/ppt/slideMasters/slideMaster1.xml" Id="R273379d8c58946b0" /><Relationship Type="http://schemas.openxmlformats.org/officeDocument/2006/relationships/notesMaster" Target="/ppt/notesMasters/notesMaster1.xml" Id="R92c16b0dd2a24cd9" /><Relationship Type="http://schemas.openxmlformats.org/officeDocument/2006/relationships/presProps" Target="/ppt/presProps.xml" Id="Rd90e4ac672834376" /><Relationship Type="http://schemas.openxmlformats.org/officeDocument/2006/relationships/tableStyles" Target="/ppt/tableStyles.xml" Id="R2dc551f543484bf6" /><Relationship Type="http://schemas.openxmlformats.org/officeDocument/2006/relationships/slide" Target="/ppt/slides/slide1.xml" Id="R327c3cd8816b4631" /><Relationship Type="http://schemas.openxmlformats.org/officeDocument/2006/relationships/slide" Target="/ppt/slides/slide2.xml" Id="R254601257ebd4ae8" /><Relationship Type="http://schemas.openxmlformats.org/officeDocument/2006/relationships/slide" Target="/ppt/slides/slide3.xml" Id="R8caa397c13e74124" /><Relationship Type="http://schemas.openxmlformats.org/officeDocument/2006/relationships/slide" Target="/ppt/slides/slide4.xml" Id="R6c580d793c9a4929" /><Relationship Type="http://schemas.openxmlformats.org/officeDocument/2006/relationships/slide" Target="/ppt/slides/slide5.xml" Id="R6d35b203190f4bda" /><Relationship Type="http://schemas.openxmlformats.org/officeDocument/2006/relationships/slide" Target="/ppt/slides/slide6.xml" Id="R40ddc645ca264045" /><Relationship Type="http://schemas.openxmlformats.org/officeDocument/2006/relationships/slide" Target="/ppt/slides/slide7.xml" Id="Rad176b99ee834361" /><Relationship Type="http://schemas.openxmlformats.org/officeDocument/2006/relationships/slide" Target="/ppt/slides/slide8.xml" Id="Re51c10ce38a34cc8" /><Relationship Type="http://schemas.openxmlformats.org/officeDocument/2006/relationships/slide" Target="/ppt/slides/slide9.xml" Id="Rff39eb58cda24c04" /><Relationship Type="http://schemas.openxmlformats.org/officeDocument/2006/relationships/slide" Target="/ppt/slides/slide10.xml" Id="R16c69861b16c4692" /><Relationship Type="http://schemas.openxmlformats.org/officeDocument/2006/relationships/slide" Target="/ppt/slides/slide11.xml" Id="R1270de89da994ba6" /><Relationship Type="http://schemas.openxmlformats.org/officeDocument/2006/relationships/slide" Target="/ppt/slides/slide12.xml" Id="R5e6e885c6d294839" /><Relationship Type="http://schemas.openxmlformats.org/officeDocument/2006/relationships/slide" Target="/ppt/slides/slide13.xml" Id="Ra4254db68da3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78880b8a1543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bf9c4323be4029" /><Relationship Type="http://schemas.openxmlformats.org/officeDocument/2006/relationships/notesMaster" Target="/ppt/notesMasters/notesMaster1.xml" Id="R1f6a203cc0a341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69120a93e34ccc" /><Relationship Type="http://schemas.openxmlformats.org/officeDocument/2006/relationships/notesMaster" Target="/ppt/notesMasters/notesMaster1.xml" Id="Rc40cc15ae17149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da134b52c4443b" /><Relationship Type="http://schemas.openxmlformats.org/officeDocument/2006/relationships/notesMaster" Target="/ppt/notesMasters/notesMaster1.xml" Id="Rc03a53f6974848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aa9ed8a48c470f" /><Relationship Type="http://schemas.openxmlformats.org/officeDocument/2006/relationships/notesMaster" Target="/ppt/notesMasters/notesMaster1.xml" Id="Ra7739cd660c048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f0be033b8f49da" /><Relationship Type="http://schemas.openxmlformats.org/officeDocument/2006/relationships/notesMaster" Target="/ppt/notesMasters/notesMaster1.xml" Id="R43107ce3401d46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a13ea1cc3c4c69" /><Relationship Type="http://schemas.openxmlformats.org/officeDocument/2006/relationships/notesMaster" Target="/ppt/notesMasters/notesMaster1.xml" Id="R2de2b1cceb1542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fca4bf084d4b97" /><Relationship Type="http://schemas.openxmlformats.org/officeDocument/2006/relationships/notesMaster" Target="/ppt/notesMasters/notesMaster1.xml" Id="R9651194a75734c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3d456e1dcb4152" /><Relationship Type="http://schemas.openxmlformats.org/officeDocument/2006/relationships/notesMaster" Target="/ppt/notesMasters/notesMaster1.xml" Id="Re79e503beb8b45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f037e426d4466a" /><Relationship Type="http://schemas.openxmlformats.org/officeDocument/2006/relationships/notesMaster" Target="/ppt/notesMasters/notesMaster1.xml" Id="Rd93870b1879e42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c442e17ce94a04" /><Relationship Type="http://schemas.openxmlformats.org/officeDocument/2006/relationships/notesMaster" Target="/ppt/notesMasters/notesMaster1.xml" Id="R088b75eab4e94c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2f7ec0efeb4ff2" /><Relationship Type="http://schemas.openxmlformats.org/officeDocument/2006/relationships/notesMaster" Target="/ppt/notesMasters/notesMaster1.xml" Id="R9987c4f1d83e45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4ec642913a4cb7" /><Relationship Type="http://schemas.openxmlformats.org/officeDocument/2006/relationships/notesMaster" Target="/ppt/notesMasters/notesMaster1.xml" Id="R4583206601fa43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345a49336d4e60" /><Relationship Type="http://schemas.openxmlformats.org/officeDocument/2006/relationships/notesMaster" Target="/ppt/notesMasters/notesMaster1.xml" Id="Re15a913d1f6841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PRESENTACIÓN AFECTACIÓN VALLE DEL CAUCA.pdf. Datos: censo empresarial de emergencia y RNT suministrado.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cruce individual no usa NIT porque el archivo RNT suministrado no lo incluye. La unidad de unión principal es el municipio.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Mapa elaborado con municipios_valle.geojson del observatorio. Valores del listado depurado de 470 afectados.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severidad se conserva como declaración del censo y debe validarse antes del desembolso.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montos no se estiman porque las fuentes no contienen presupuesto ni topes de la convocatoria.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verificación debe consultar la fuente oficial y confirmar establecimiento, vigencia y titularidad.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indicador no debe presentarse como porcentaje de RNT afectados.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ausencia de dato oficial se presenta como n.a. y no como cero.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códigos y categorías RNT completos se incluyen en el informe Word y en la matriz operativa.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Coincidencia probable: Finca la isabella en La Unión.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categoría sin coincidencia por nombre no debe usarse como causal automática de exclusión.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45 registros sin afectación confirmada y los dos posibles duplicados quedan en una hoja de revisión separada de la matriz.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Cierre. La decisión administrativa final requiere reglas de elegibilidad, presupuesto y validación documental.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7fcc01d8a48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3693b4011c47a9" /><Relationship Type="http://schemas.openxmlformats.org/officeDocument/2006/relationships/slideLayout" Target="/ppt/slideLayouts/slideLayout1.xml" Id="R4be0ca01ca3b4e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e0ca01ca3b4e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63189c72a48b0" /><Relationship Type="http://schemas.openxmlformats.org/officeDocument/2006/relationships/image" Target="/ppt/media/image.png" Id="Re4b9a01c802240ad" /><Relationship Type="http://schemas.openxmlformats.org/officeDocument/2006/relationships/image" Target="/ppt/media/image2.png" Id="Rb46080ec2a714359" /><Relationship Type="http://schemas.openxmlformats.org/officeDocument/2006/relationships/notesSlide" Target="/ppt/notesSlides/notesSlide1.xml" Id="R90d4e1ca784545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0b2d992d34237" /><Relationship Type="http://schemas.openxmlformats.org/officeDocument/2006/relationships/image" Target="/ppt/media/image3.png" Id="R1bc9626aa2454a0f" /><Relationship Type="http://schemas.openxmlformats.org/officeDocument/2006/relationships/notesSlide" Target="/ppt/notesSlides/notesSlide2.xml" Id="R28756fa8f7104a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acf51abc745ef" /><Relationship Type="http://schemas.openxmlformats.org/officeDocument/2006/relationships/image" Target="/ppt/media/image4.png" Id="R234061cc90c441e1" /><Relationship Type="http://schemas.openxmlformats.org/officeDocument/2006/relationships/image" Target="/ppt/media/image5.png" Id="R6218b41ffe6f4247" /><Relationship Type="http://schemas.openxmlformats.org/officeDocument/2006/relationships/chart" Target="/ppt/slides/charts/chart1.xml" Id="R24eb58abe03a4c85" /><Relationship Type="http://schemas.openxmlformats.org/officeDocument/2006/relationships/notesSlide" Target="/ppt/notesSlides/notesSlide3.xml" Id="R1e40645be9f640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aa3b9e050430e" /><Relationship Type="http://schemas.openxmlformats.org/officeDocument/2006/relationships/image" Target="/ppt/media/image6.png" Id="Rfe3ad28dc03a4467" /><Relationship Type="http://schemas.openxmlformats.org/officeDocument/2006/relationships/chart" Target="/ppt/slides/charts/chart2.xml" Id="Ra442f710b01643ef" /><Relationship Type="http://schemas.openxmlformats.org/officeDocument/2006/relationships/notesSlide" Target="/ppt/notesSlides/notesSlide4.xml" Id="R246149d41c254d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21e88aaf84de6" /><Relationship Type="http://schemas.openxmlformats.org/officeDocument/2006/relationships/image" Target="/ppt/media/image7.png" Id="R936154b09f4142b4" /><Relationship Type="http://schemas.openxmlformats.org/officeDocument/2006/relationships/chart" Target="/ppt/slides/charts/chart3.xml" Id="R7c3957737aa647bc" /><Relationship Type="http://schemas.openxmlformats.org/officeDocument/2006/relationships/notesSlide" Target="/ppt/notesSlides/notesSlide5.xml" Id="Re9bcdc03cf3b4c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c52e8fa2f4110" /><Relationship Type="http://schemas.openxmlformats.org/officeDocument/2006/relationships/image" Target="/ppt/media/image8.png" Id="R518d3ef0fb8542ce" /><Relationship Type="http://schemas.openxmlformats.org/officeDocument/2006/relationships/chart" Target="/ppt/slides/charts/chart4.xml" Id="R2841a3e4b813420b" /><Relationship Type="http://schemas.openxmlformats.org/officeDocument/2006/relationships/notesSlide" Target="/ppt/notesSlides/notesSlide6.xml" Id="Rc055c2a7c58049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6e7d98a5b4ddb" /><Relationship Type="http://schemas.openxmlformats.org/officeDocument/2006/relationships/image" Target="/ppt/media/image9.png" Id="Rd7b7e4cc1b274bc4" /><Relationship Type="http://schemas.openxmlformats.org/officeDocument/2006/relationships/image" Target="/ppt/media/image10.png" Id="R9a317ddd7fec4f38" /><Relationship Type="http://schemas.openxmlformats.org/officeDocument/2006/relationships/notesSlide" Target="/ppt/notesSlides/notesSlide7.xml" Id="R0628c7f9c60d4b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e6e7813b746b2" /><Relationship Type="http://schemas.openxmlformats.org/officeDocument/2006/relationships/image" Target="/ppt/media/image11.png" Id="R3b74bfd6b5984e1b" /><Relationship Type="http://schemas.openxmlformats.org/officeDocument/2006/relationships/notesSlide" Target="/ppt/notesSlides/notesSlide8.xml" Id="R0de83786c3bf47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b22c02d99437d" /><Relationship Type="http://schemas.openxmlformats.org/officeDocument/2006/relationships/image" Target="/ppt/media/image12.png" Id="R6d5f83502c144bb1" /><Relationship Type="http://schemas.openxmlformats.org/officeDocument/2006/relationships/notesSlide" Target="/ppt/notesSlides/notesSlide9.xml" Id="R9a3f302229de45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ba438f7a044a2" /><Relationship Type="http://schemas.openxmlformats.org/officeDocument/2006/relationships/image" Target="/ppt/media/image13.png" Id="Rcbefe96340c44259" /><Relationship Type="http://schemas.openxmlformats.org/officeDocument/2006/relationships/notesSlide" Target="/ppt/notesSlides/notesSlide10.xml" Id="Rb8e095b9c3a44f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875c8a0f940a8" /><Relationship Type="http://schemas.openxmlformats.org/officeDocument/2006/relationships/image" Target="/ppt/media/image14.png" Id="R4c23286926cc4e14" /><Relationship Type="http://schemas.openxmlformats.org/officeDocument/2006/relationships/notesSlide" Target="/ppt/notesSlides/notesSlide11.xml" Id="R6899888dea9e4f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5a86a7a854667" /><Relationship Type="http://schemas.openxmlformats.org/officeDocument/2006/relationships/image" Target="/ppt/media/image15.png" Id="R488a93beb13b4260" /><Relationship Type="http://schemas.openxmlformats.org/officeDocument/2006/relationships/notesSlide" Target="/ppt/notesSlides/notesSlide12.xml" Id="R6d64621c5ab641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973d22d3d4f8d" /><Relationship Type="http://schemas.openxmlformats.org/officeDocument/2006/relationships/image" Target="/ppt/media/image16.png" Id="Rf6181ca691554f72" /><Relationship Type="http://schemas.openxmlformats.org/officeDocument/2006/relationships/notesSlide" Target="/ppt/notesSlides/notesSlide13.xml" Id="R30a1847146dc410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Negocios afectados</c:v>
          </c:tx>
          <c:spPr>
            <a:solidFill xmlns:a="http://schemas.openxmlformats.org/drawingml/2006/main">
              <a:srgbClr val="2F75B5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106</c:v>
              </c:pt>
              <c:pt idx="1">
                <c:v>144</c:v>
              </c:pt>
              <c:pt idx="2">
                <c:v>89</c:v>
              </c:pt>
              <c:pt idx="3">
                <c:v>61</c:v>
              </c:pt>
              <c:pt idx="4">
                <c:v>43</c:v>
              </c:pt>
              <c:pt idx="5">
                <c:v>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36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Crítica</c:v>
          </c:tx>
          <c:spPr>
            <a:solidFill xmlns:a="http://schemas.openxmlformats.org/drawingml/2006/main">
              <a:srgbClr val="B71C1C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53</c:v>
              </c:pt>
              <c:pt idx="1">
                <c:v>45</c:v>
              </c:pt>
              <c:pt idx="2">
                <c:v>36</c:v>
              </c:pt>
              <c:pt idx="3">
                <c:v>13</c:v>
              </c:pt>
              <c:pt idx="4">
                <c:v>8</c:v>
              </c:pt>
              <c:pt idx="5">
                <c:v>3</c:v>
              </c:pt>
            </c:numLit>
          </c:val>
        </c:ser>
        <c:ser>
          <c:idx val="1"/>
          <c:order val="1"/>
          <c:tx>
            <c:v>Grave</c:v>
          </c:tx>
          <c:spPr>
            <a:solidFill xmlns:a="http://schemas.openxmlformats.org/drawingml/2006/main">
              <a:srgbClr val="E74C3C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29</c:v>
              </c:pt>
              <c:pt idx="1">
                <c:v>59</c:v>
              </c:pt>
              <c:pt idx="2">
                <c:v>33</c:v>
              </c:pt>
              <c:pt idx="3">
                <c:v>21</c:v>
              </c:pt>
              <c:pt idx="4">
                <c:v>18</c:v>
              </c:pt>
              <c:pt idx="5">
                <c:v>5</c:v>
              </c:pt>
            </c:numLit>
          </c:val>
        </c:ser>
        <c:ser>
          <c:idx val="2"/>
          <c:order val="2"/>
          <c:tx>
            <c:v>Moderada</c:v>
          </c:tx>
          <c:spPr>
            <a:solidFill xmlns:a="http://schemas.openxmlformats.org/drawingml/2006/main">
              <a:srgbClr val="E69000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21</c:v>
              </c:pt>
              <c:pt idx="1">
                <c:v>32</c:v>
              </c:pt>
              <c:pt idx="2">
                <c:v>18</c:v>
              </c:pt>
              <c:pt idx="3">
                <c:v>19</c:v>
              </c:pt>
              <c:pt idx="4">
                <c:v>9</c:v>
              </c:pt>
              <c:pt idx="5">
                <c:v>9</c:v>
              </c:pt>
            </c:numLit>
          </c:val>
        </c:ser>
        <c:ser>
          <c:idx val="3"/>
          <c:order val="3"/>
          <c:tx>
            <c:v>Baja</c:v>
          </c:tx>
          <c:spPr>
            <a:solidFill xmlns:a="http://schemas.openxmlformats.org/drawingml/2006/main">
              <a:srgbClr val="4F9D69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3</c:v>
              </c:pt>
              <c:pt idx="1">
                <c:v>7</c:v>
              </c:pt>
              <c:pt idx="2">
                <c:v>2</c:v>
              </c:pt>
              <c:pt idx="3">
                <c:v>7</c:v>
              </c:pt>
              <c:pt idx="4">
                <c:v>8</c:v>
              </c:pt>
              <c:pt idx="5">
                <c:v>8</c:v>
              </c:pt>
            </c:numLit>
          </c:val>
        </c:ser>
        <c:ser>
          <c:idx val="4"/>
          <c:order val="4"/>
          <c:tx>
            <c:v>Sin clasificación</c:v>
          </c:tx>
          <c:spPr>
            <a:solidFill xmlns:a="http://schemas.openxmlformats.org/drawingml/2006/main">
              <a:srgbClr val="AAB2BD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1</c:v>
              </c:pt>
              <c:pt idx="4">
                <c:v>0</c:v>
              </c:pt>
              <c:pt idx="5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6666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1 Urgente</c:v>
          </c:tx>
          <c:spPr>
            <a:solidFill xmlns:a="http://schemas.openxmlformats.org/drawingml/2006/main">
              <a:srgbClr val="B71C1C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55</c:v>
              </c:pt>
              <c:pt idx="1">
                <c:v>36</c:v>
              </c:pt>
              <c:pt idx="2">
                <c:v>35</c:v>
              </c:pt>
              <c:pt idx="3">
                <c:v>15</c:v>
              </c:pt>
              <c:pt idx="4">
                <c:v>8</c:v>
              </c:pt>
              <c:pt idx="5">
                <c:v>3</c:v>
              </c:pt>
            </c:numLit>
          </c:val>
        </c:ser>
        <c:ser>
          <c:idx val="1"/>
          <c:order val="1"/>
          <c:tx>
            <c:v>2 Alta</c:v>
          </c:tx>
          <c:spPr>
            <a:solidFill xmlns:a="http://schemas.openxmlformats.org/drawingml/2006/main">
              <a:srgbClr val="E86B52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27</c:v>
              </c:pt>
              <c:pt idx="1">
                <c:v>68</c:v>
              </c:pt>
              <c:pt idx="2">
                <c:v>34</c:v>
              </c:pt>
              <c:pt idx="3">
                <c:v>19</c:v>
              </c:pt>
              <c:pt idx="4">
                <c:v>18</c:v>
              </c:pt>
              <c:pt idx="5">
                <c:v>5</c:v>
              </c:pt>
            </c:numLit>
          </c:val>
        </c:ser>
        <c:ser>
          <c:idx val="2"/>
          <c:order val="2"/>
          <c:tx>
            <c:v>3 Media</c:v>
          </c:tx>
          <c:spPr>
            <a:solidFill xmlns:a="http://schemas.openxmlformats.org/drawingml/2006/main">
              <a:srgbClr val="D99B2B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21</c:v>
              </c:pt>
              <c:pt idx="1">
                <c:v>32</c:v>
              </c:pt>
              <c:pt idx="2">
                <c:v>18</c:v>
              </c:pt>
              <c:pt idx="3">
                <c:v>19</c:v>
              </c:pt>
              <c:pt idx="4">
                <c:v>9</c:v>
              </c:pt>
              <c:pt idx="5">
                <c:v>9</c:v>
              </c:pt>
            </c:numLit>
          </c:val>
        </c:ser>
        <c:ser>
          <c:idx val="3"/>
          <c:order val="3"/>
          <c:tx>
            <c:v>4 Revisar</c:v>
          </c:tx>
          <c:spPr>
            <a:solidFill xmlns:a="http://schemas.openxmlformats.org/drawingml/2006/main">
              <a:srgbClr val="AAB2BD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3</c:v>
              </c:pt>
              <c:pt idx="1">
                <c:v>8</c:v>
              </c:pt>
              <c:pt idx="2">
                <c:v>2</c:v>
              </c:pt>
              <c:pt idx="3">
                <c:v>8</c:v>
              </c:pt>
              <c:pt idx="4">
                <c:v>8</c:v>
              </c:pt>
              <c:pt idx="5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6666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RNT localizado</c:v>
          </c:tx>
          <c:spPr>
            <a:solidFill xmlns:a="http://schemas.openxmlformats.org/drawingml/2006/main">
              <a:srgbClr val="4F9D69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7</c:v>
              </c:pt>
              <c:pt idx="1">
                <c:v>7</c:v>
              </c:pt>
              <c:pt idx="2">
                <c:v>2</c:v>
              </c:pt>
              <c:pt idx="3">
                <c:v>2</c:v>
              </c:pt>
              <c:pt idx="4">
                <c:v>5</c:v>
              </c:pt>
              <c:pt idx="5">
                <c:v>1</c:v>
              </c:pt>
            </c:numLit>
          </c:val>
        </c:ser>
        <c:ser>
          <c:idx val="1"/>
          <c:order val="1"/>
          <c:tx>
            <c:v>Por verificar</c:v>
          </c:tx>
          <c:spPr>
            <a:solidFill xmlns:a="http://schemas.openxmlformats.org/drawingml/2006/main">
              <a:srgbClr val="D9E2F3"/>
            </a:solidFill>
          </c:spPr>
          <c:cat>
            <c:strLit>
              <c:ptCount val="6"/>
              <c:pt idx="0">
                <c:v>Roldanillo</c:v>
              </c:pt>
              <c:pt idx="1">
                <c:v>Buenaventura</c:v>
              </c:pt>
              <c:pt idx="2">
                <c:v>Sevilla</c:v>
              </c:pt>
              <c:pt idx="3">
                <c:v>Cartago</c:v>
              </c:pt>
              <c:pt idx="4">
                <c:v>La Unión</c:v>
              </c:pt>
              <c:pt idx="5">
                <c:v>Zarzal</c:v>
              </c:pt>
            </c:strLit>
          </c:cat>
          <c:val>
            <c:numLit>
              <c:formatCode>General</c:formatCode>
              <c:ptCount val="6"/>
              <c:pt idx="0">
                <c:v>99</c:v>
              </c:pt>
              <c:pt idx="1">
                <c:v>137</c:v>
              </c:pt>
              <c:pt idx="2">
                <c:v>87</c:v>
              </c:pt>
              <c:pt idx="3">
                <c:v>59</c:v>
              </c:pt>
              <c:pt idx="4">
                <c:v>38</c:v>
              </c:pt>
              <c:pt idx="5">
                <c:v>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6666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9a01c802240ad"/>
          <a:srcRect xmlns:a="http://schemas.openxmlformats.org/drawingml/2006/main" l="0" t="8857" r="0" b="8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3F6F8-0F3C-4CC9-A9BD-57728CE4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>
              <a:alpha val="40000"/>
            </a:srgbClr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080ec2a714359"/>
          <a:stretch xmlns:a="http://schemas.openxmlformats.org/drawingml/2006/main"/>
        </p:blipFill>
        <p:spPr>
          <a:xfrm xmlns:a="http://schemas.openxmlformats.org/drawingml/2006/main">
            <a:off x="8858250" y="446484"/>
            <a:ext cx="2667000" cy="105013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044A5-F157-4896-8D56-96195D2F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666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Negocios afectados de la cadena de valor del turismo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8C0AB-83E2-4E2B-A36A-B1534E69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638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Roldanillo, Buenaventura, Sevilla, Cartago, La Unión y Zarzal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824F5-07D3-419F-80C5-12CD4612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95875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Prelista técnica para subsidios</a:t>
            </a:r>
          </a:p>
          <a:p xmlns:a="http://schemas.openxmlformats.org/drawingml/2006/main">
            <a:pPr algn="l">
              <a:defRPr sz="13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Corte del censo 1 de 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474503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FD11F-EA50-4210-A230-C9177E39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Resultado para la decisión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294B1-6820-488F-B97F-28180893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La coincidencia nominal con el RNT funciona como apoyo de validación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9626aa2454a0f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80B31-872B-4720-B4CE-29246D33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DA375-8FD7-4899-9BFC-DBD71622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0B1E7-2018-40B2-8C07-8D7BD1E7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negocios afectados confirmados en los seis municipios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42604-82EC-4CF5-9C1C-97CBD679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C2114-3083-4BEA-9BBA-E86C4E76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218A3-6B35-4F12-AA2F-CB3D1327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RNT localizados por nombre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88AD8-EAA0-456D-88A6-1A42B94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145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23 exactos y 1 probable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2E5A3-E7F2-4398-B9C5-0D8C2A46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81275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D3227-7887-41CD-84D8-7FFFBBDF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D99B2B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D99B2B"/>
                </a:solidFill>
                <a:latin typeface="Arial"/>
                <a:ea typeface="Arial"/>
                <a:cs typeface="Arial"/>
              </a:rPr>
              <a:t>446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8D5E0-1574-4D06-A2F4-7E86284D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241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casos requieren verificación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5415E-0A10-4B66-B8B0-1D5C475F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90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 localizar un nombre no prueba ausencia de RNT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77D3E-16A0-423A-8AE0-B83081AF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CDB7B-48DD-4E09-9CE9-57CBFC2A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33875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323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8A37B-7E8A-4B88-BCBF-57EC84E5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00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negocios con afectación crítica o grave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866A3-06F9-4513-98DC-962728F6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672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152 declararon que no pueden operar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5B119-58B6-4F7C-ADCC-17DF9FC6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El programa puede conservar los 446 casos como posibles beneficiarios si admite negocios sin RNT. La entidad debe verificar identidad, afectación, titularidad y doble pago antes del giro.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91211-2A50-4103-A583-342E66DB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Fuente: censo empresarial de emergencia y RNT 2026 suministrado.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554043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DC12C-1DB8-49CF-A00D-817ACC97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Distribución de los 470 negocios afectados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3D8A2-AA61-4596-9091-D186EFD8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Buenaventura, Roldanillo y Sevilla concentran 339 casos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061cc90c441e1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162F1-BDE1-4291-A725-3FCFA2CB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8b41ffe6f4247"/>
          <a:stretch xmlns:a="http://schemas.openxmlformats.org/drawingml/2006/main"/>
        </p:blipFill>
        <p:spPr>
          <a:xfrm xmlns:a="http://schemas.openxmlformats.org/drawingml/2006/main">
            <a:off x="613235" y="1066800"/>
            <a:ext cx="5498181" cy="50958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572250" y="1428750"/>
          <a:ext xmlns:a="http://schemas.openxmlformats.org/drawingml/2006/main" cx="5095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eb58abe03a4c8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FD132-980E-4B87-A570-2D3DC894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72125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72% de los afectados están en Buenaventura, Roldanillo y Sevilla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240E6-FF54-4598-AE20-6CFE284A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Fuente: censo empresarial de emergencia. Corte 1 de septiembre de 2026.</a:t>
            </a:r>
          </a:p>
        </p:txBody>
      </p:sp>
    </p:spTree>
    <p:extLst>
      <p:ext uri="{BB962C8B-B14F-4D97-AF65-F5344CB8AC3E}">
        <p14:creationId xmlns:p14="http://schemas.microsoft.com/office/powerpoint/2010/main" val="755818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B5B0A-432C-46B7-AF9E-D04A7468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Severidad declarada por municipio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A39B4-D5B0-42EC-A7FD-DEAB82B4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323 negocios presentan afectación crítica o grave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ad28dc03a4467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B6190-CA75-42DB-9E9F-1662C62B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81087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42f710b01643e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156B9-9C90-4B80-B2CE-DCE3B937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A5D9C-AA8C-46A5-B855-BC337305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6262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Roldanillo registra 82 casos críticos o graves. Buenaventura registra 104 y Sevilla 69.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28D27-6EDF-4A4D-A7B0-0AEBA58A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Fuente: nivel de afectación declarado por el establecimiento en el censo.</a:t>
            </a:r>
          </a:p>
        </p:txBody>
      </p:sp>
    </p:spTree>
    <p:extLst>
      <p:ext uri="{BB962C8B-B14F-4D97-AF65-F5344CB8AC3E}">
        <p14:creationId xmlns:p14="http://schemas.microsoft.com/office/powerpoint/2010/main" val="1448459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7DEC5-390C-4262-8544-1F164BA3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Prioridad operativa para revisar los subsidios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02991-4559-44B6-B7D3-CAE23293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La prioridad ordena la validación y no asigna el beneficio automáticamente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154b09f4142b4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7DD98-A0FD-4C8B-80A5-13C99168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81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3957737aa647b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8D6DD-47F7-46D6-B958-E62EF2B9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36FF1-79A1-48A5-B7AA-A61CC9FA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769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Urgente: afectación crítica o grave y cierre total. Alta: severidad crítica o grave, o cierre total. Media: afectación moderada u operación parcial.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30E75-8364-4ACF-A653-AD3A4651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Fuente: elaboración propia a partir de severidad y continuidad operativa declaradas.</a:t>
            </a:r>
          </a:p>
        </p:txBody>
      </p:sp>
    </p:spTree>
    <p:extLst>
      <p:ext uri="{BB962C8B-B14F-4D97-AF65-F5344CB8AC3E}">
        <p14:creationId xmlns:p14="http://schemas.microsoft.com/office/powerpoint/2010/main" val="513077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8E00E-E1D7-498C-837C-AD248EC5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Cruce con el Registro Nacional de Turismo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516A7-A193-4BC2-AADA-10AE99DA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El municipio funciona como llave territorial y el nombre como apoyo de búsqueda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d3ef0fb8542ce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39D14-1592-44CC-B881-24D6E621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051A9-6EF2-47BA-B865-DC4CE420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Censo empresarial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D6FF9-62F2-4FE0-BB60-A9CC9B09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24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Municipio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519CA-B980-4849-A565-66F74473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RNT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89DCD-6393-4A04-8625-E9B61421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4307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9B2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9B061-A05A-41DD-891B-281C2C8A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430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9B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F0676-6394-4EC8-B7AC-06C3B0E2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676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 existe NIT compartido entre los archivos. La coincidencia nominal no certifica la situación del registro.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7524750" y="1333500"/>
          <a:ext xmlns:a="http://schemas.openxmlformats.org/drawingml/2006/main" cx="423862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41a3e4b813420b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09A99-756D-4744-B570-F333635A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433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312C6-A08B-443E-801E-EFC09DBF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coincidencias localizables</a:t>
            </a:r>
          </a:p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23 exactas y 1 probable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66790-78A9-4627-9CE9-27E98CCD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433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D99B2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D99B2B"/>
                </a:solidFill>
                <a:latin typeface="Arial"/>
                <a:ea typeface="Arial"/>
                <a:cs typeface="Arial"/>
              </a:rPr>
              <a:t>446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ECA33-8CB8-4907-BDAA-C43AB64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casos por verificar</a:t>
            </a:r>
          </a:p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314 sin coincidencia y 132 no evaluables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BB43B-E88C-4E2F-AD73-400169AD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623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No localizar el nombre no prueba ausencia de RNT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B4357-C783-4BB2-9D63-71474BE3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Fuente: censo empresarial de emergencia y RNT 2026 suministrado.</a:t>
            </a:r>
          </a:p>
        </p:txBody>
      </p:sp>
    </p:spTree>
    <p:extLst>
      <p:ext uri="{BB962C8B-B14F-4D97-AF65-F5344CB8AC3E}">
        <p14:creationId xmlns:p14="http://schemas.microsoft.com/office/powerpoint/2010/main" val="547612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A9F14-20BE-4939-8A61-E8CCCDE8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Intensidad relativa frente a la oferta RNT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FD509-9B18-456C-9EFE-1B71247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Reportes de afectación por cada 100 RNT vigentes en el municipio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7e4cc1b274bc4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F622C-7EEF-4E3C-BF92-93DDF841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17ddd7fec4f38"/>
          <a:stretch xmlns:a="http://schemas.openxmlformats.org/drawingml/2006/main"/>
        </p:blipFill>
        <p:spPr>
          <a:xfrm xmlns:a="http://schemas.openxmlformats.org/drawingml/2006/main">
            <a:off x="896102" y="1143000"/>
            <a:ext cx="5446796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028C5-C3C8-4CC1-8287-983C7483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Mayor intensidad relativa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285A1-1EFE-4CB6-812F-6C135E0F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9A90C-6FFB-4630-BB75-97058DCF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Sevilla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B8D0E-4597-4F31-AC06-E4A1FF3E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91,8 reportes por 100 RNT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71D29-3657-4C6B-A48A-7A9A779D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718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BF47A-4F02-4C53-8E31-B08FB3BD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Zarzal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60A08-1851-4DF5-8C53-4E782F80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75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81,8 reportes por 100 RNT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FAD59-18D1-41FA-882C-360A6B0E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E28A0-F943-4EEF-8F2A-3819951D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Roldanillo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6D999-D5A5-42DF-A71A-3FA20867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577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73,1 reportes por 100 RNT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FAA86-D2D4-4097-90FD-3736B6F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La razón compara dos inventarios municipales. No identifica qué prestadores RNT sufrieron afectación.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CD169-6139-4B61-ADA0-714427EA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Fuente: 470 negocios afectados y 840 códigos RNT vigentes en los seis municipios.</a:t>
            </a:r>
          </a:p>
        </p:txBody>
      </p:sp>
    </p:spTree>
    <p:extLst>
      <p:ext uri="{BB962C8B-B14F-4D97-AF65-F5344CB8AC3E}">
        <p14:creationId xmlns:p14="http://schemas.microsoft.com/office/powerpoint/2010/main" val="11308134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1634E-3580-423B-AD6F-89BA80D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Contexto oficial de los municipios priorizados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21D04-B422-47BD-8675-2335F596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El nivel territorial complementa la afectación empresarial declarada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4bfd6b5984e1b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C8A48-09FE-4470-9B6A-EE62EFC8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524000"/>
                <a:gridCol w="1809750"/>
                <a:gridCol w="1714500"/>
                <a:gridCol w="1714500"/>
                <a:gridCol w="2095500"/>
              </a:tblGrid>
              <a:tr h="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Municipio</a:t>
                      </a:r>
                    </a:p>
                  </a:txBody>
                  <a:tcPr marL="76200" marR="76200" marT="57150" marB="5715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Nivel oficial</a:t>
                      </a:r>
                    </a:p>
                  </a:txBody>
                  <a:tcPr marL="76200" marR="76200" marT="57150" marB="5715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Viviendas afectadas</a:t>
                      </a:r>
                    </a:p>
                  </a:txBody>
                  <a:tcPr marL="76200" marR="76200" marT="57150" marB="5715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Locales averiados</a:t>
                      </a:r>
                    </a:p>
                  </a:txBody>
                  <a:tcPr marL="76200" marR="76200" marT="57150" marB="5715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Locales destruidos</a:t>
                      </a:r>
                    </a:p>
                  </a:txBody>
                  <a:tcPr marL="76200" marR="76200" marT="57150" marB="5715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Negocios turismo afectados</a:t>
                      </a:r>
                    </a:p>
                  </a:txBody>
                  <a:tcPr marL="76200" marR="76200" marT="57150" marB="57150" anchor="ctr">
                    <a:solidFill>
                      <a:srgbClr val="17365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Roldanillo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Muy alta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4461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106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Buenaventura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Muy alta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5630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144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Sevilla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Alta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898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89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Cartago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Media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La Unión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Muy alta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1836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119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Zarzal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Muy alta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1175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95250" marR="95250" marT="66675" marB="66675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254C3-5712-4DBB-B5A6-523A98A3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La Unión cuenta con 119 locales averiados y 60 destruidos en el consolidado. Roldanillo registra 150 locales averiados. En los demás municipios la fuente no siempre informa locales.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C76AC-D7F8-4EC5-BE11-5BDA04ED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Fuente: consolidado_valle.json. Corte oficial 16 de agosto de 2026.</a:t>
            </a:r>
          </a:p>
        </p:txBody>
      </p:sp>
    </p:spTree>
    <p:extLst>
      <p:ext uri="{BB962C8B-B14F-4D97-AF65-F5344CB8AC3E}">
        <p14:creationId xmlns:p14="http://schemas.microsoft.com/office/powerpoint/2010/main" val="3948751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CDF80-DAD9-4CDC-87E7-5CC1DEC3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RNT localizable en Roldanillo y Buenaventura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BFF85-3C69-42CB-A174-9984163F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Coincidencias nominales para validación inicial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f83502c144bb1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3BA7F-6275-47AF-8E7C-FBFFEE5A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94EFF-D3C0-4637-952B-23B5EE41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Roldanillo 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20F21-4E33-4415-A1A3-77F6D4E6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857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Cloudbase Colombia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Hospedaje La Novena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Brisas del Norte Roldanillo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OASYS BLUE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Valle Junior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SINDY TOUR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Ziwa Ecohotel SAS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91691-FA3C-4E73-BD4C-57C39CCE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Buenaventura 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E7F18-91E3-4248-9C9B-CE42AB47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857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EVENTOS CARAMELO &amp; ASOCIADOS C.I. S.A.S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Asturias beach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EL OASIS DEL PACIFICO S.A.S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OCEAN PACIFIC SAS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YUBARTA S.A.S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JUANCHACO VIP SAS</a:t>
            </a:r>
          </a:p>
          <a:p xmlns:a="http://schemas.openxmlformats.org/drawingml/2006/main">
            <a:pPr marL="254000" indent="-127000" algn="l">
              <a:spcAft>
                <a:spcPts val="900"/>
              </a:spcAft>
              <a:buChar char="•"/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RESTAURANTE TIPICO AQUI ES FABIOLA SAS BIC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9D448-6292-4658-B861-4D140B85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FD830-4CF6-477A-B422-CB2CDF16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La coincidencia debe contrastarse con vigencia, establecimiento y titularidad antes del giro.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43F6C-4633-445F-A0D4-38B24573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Fuente: cruce nominal auxiliar dentro del mismo municipio.</a:t>
            </a:r>
          </a:p>
        </p:txBody>
      </p:sp>
    </p:spTree>
    <p:extLst>
      <p:ext uri="{BB962C8B-B14F-4D97-AF65-F5344CB8AC3E}">
        <p14:creationId xmlns:p14="http://schemas.microsoft.com/office/powerpoint/2010/main" val="182833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5D96A-D4C9-43AC-8971-2C4266C3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Otros RNT localizables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E86D5-E1AF-44E9-9B39-1C3F8AB2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Sevilla, Cartago, La Unión y Zarzal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fe96340c44259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5C274-80BC-4A32-8955-485BBC39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1326C-FBD8-46C0-9A3B-5F2B80CB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Sevilla 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642FB-58A3-456D-BB79-752CD55E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383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GLAMPING SEVILLA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Colonial Coffe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FD710-D357-4E24-AB02-C5182920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Cartago 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C6126-B00D-4DE3-9689-A425AF3A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3857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Hospedaje millones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y gastrobar golden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3B6DE-3F77-4F8C-9A48-69B07C99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La Unión 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8372D-955B-4AA4-95CC-9C7B64B2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383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Finca la isabella  Probable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CENTRAL RIVER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maxim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y parqueadero la cascada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parque nacional de la uva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C0CCD-F2FD-4566-8897-23BDDC67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91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Zarzal 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3E53B-DF0B-43D1-A435-D8371339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482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Hotel VALI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6EFCC-43DD-4215-B022-ACB7190A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0" cy="442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1487A-6889-4277-AD1E-53C90602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29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Finca la isabella requiere comprobación manual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840E0-2D53-45D6-8AC0-DD6DC44B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Fuente: cruce nominal auxiliar dentro del mismo municipio.</a:t>
            </a:r>
          </a:p>
        </p:txBody>
      </p:sp>
    </p:spTree>
    <p:extLst>
      <p:ext uri="{BB962C8B-B14F-4D97-AF65-F5344CB8AC3E}">
        <p14:creationId xmlns:p14="http://schemas.microsoft.com/office/powerpoint/2010/main" val="5117990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6045D-CFBF-4B75-A8CC-AA2E62CB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Ruta mínima de validación antes del desembolso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B69D0-993C-40A4-9D7F-90EAFC13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La prelista organiza la revisión y conserva la trazabilidad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3286926cc4e14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74CC3-C48F-4519-AADB-2D6232AF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ACDC7-DA08-4241-829F-E4D1520E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E5E1C-B860-4A72-8B7A-FEF1470C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57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Municipio y actividad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95912-2636-4E0C-A399-918BF947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2573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Confirmar que el establecimiento pertenece a la cadena de valor y opera o estaba establecido en el municipio.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E7654-628D-43F3-87AA-645F062F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288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6BF3C-1048-4F6B-ABB9-6451C498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E7C20-AEEB-4AFA-B201-9CD67955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Afectación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57CAD-A90B-4738-93D4-31FE1588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Corroborar la severidad y la continuidad operativa con evidencia o validación territorial.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BC731-932C-4118-97F9-B6A51C39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99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472BC-BB73-4939-8606-F3D63DDF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4802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5A9AA-D457-4D5E-A910-D7EA7C43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19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Identidad y titularidad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77BD0-3F66-4F0A-A736-6D32B849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194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Verificar la relación entre el solicitante y el negocio con los datos reservados del censo.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C5021-F733-4856-B272-48A8BE84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574D9-E33F-4D78-9234-3FB75E5D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291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665AA-94C5-470F-9136-EB28A85A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005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Estado RNT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E696A-801A-44B7-B5CA-129720EB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005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Consultar la fuente oficial y registrar vigente, no vigente, no inscrito o no concluyente.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221D5-39BE-4962-B8C0-C2D861E3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720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86E03-B5A4-411E-BF28-AC490F49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01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DB3FE-5F2E-4249-A1ED-BEEA7095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81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Doble beneficio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274C2-2E81-4A2A-8385-729424B0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81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Revisar duplicados, pagos previos y beneficios incompatibles antes de aprobar el giro.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103F6-E282-4D89-8042-1E2AB221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Fuente: protocolo recomendado a partir de las limitaciones de identificación observadas.</a:t>
            </a:r>
          </a:p>
        </p:txBody>
      </p:sp>
    </p:spTree>
    <p:extLst>
      <p:ext uri="{BB962C8B-B14F-4D97-AF65-F5344CB8AC3E}">
        <p14:creationId xmlns:p14="http://schemas.microsoft.com/office/powerpoint/2010/main" val="20204768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E4098-F867-4A5D-BD75-6812952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Alcance del listado para subsidios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74156-19F6-4C7B-8541-76DAECF7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05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Diferencia frente al universo general de la presentación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a93beb13b4260"/>
          <a:stretch xmlns:a="http://schemas.openxmlformats.org/drawingml/2006/main"/>
        </p:blipFill>
        <p:spPr>
          <a:xfrm xmlns:a="http://schemas.openxmlformats.org/drawingml/2006/main">
            <a:off x="10363200" y="252115"/>
            <a:ext cx="1428750" cy="562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00416-99A3-48E0-98EC-374612AA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5859A-B306-4895-8A17-7908D9F3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1.703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3863D-5F68-4725-B83E-28A744F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476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universo departamental de la cadena turística después de la depuración global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4FD5C-FC06-41C4-A96E-0BE0748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53CB3-240E-459D-B6DD-037D74F4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prelista para seis municipios con respuesta explícita de afectación y depuración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93C4C-F450-4E78-98B6-35B1E6BC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75" b="1">
                <a:solidFill>
                  <a:srgbClr val="D99B2B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D99B2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0D11C-0322-4A55-842D-9310EDB4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coincidencias nominales que facilitan la validación inicial del RNT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4D72F-B048-4969-945E-ECFED872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71625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7EA11-CDF3-4D07-AF32-BB9856F5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71625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67688-89BD-4F02-8713-BE1AF77F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93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517 registros sectoriales crudos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8D4CD-45F2-4AC9-BC9B-96C92333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33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 posibles duplicados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E667A-0E0F-49C8-A4E6-0A5C96A6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338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42 respuestas 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DD18D-0C7A-410C-9F40-67DF568D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33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 sin respuesta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914C9-71E1-4C10-9EAC-5DFD185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470 afectados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586AE-2A2D-4861-964D-25C6F9B3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530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9B2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3C2BB-FB65-4A21-A4C3-777F590F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8637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La matriz operativa excluye datos personales de contacto y conserva el número de reporte para la validación interna.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F55F4-3A30-42DD-909E-D54C6377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Fuentes: censo empresarial, RNT 2026, consolidado oficial y presentación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14686221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81ca691554f72"/>
          <a:stretch xmlns:a="http://schemas.openxmlformats.org/drawingml/2006/main"/>
        </p:blipFill>
        <p:spPr>
          <a:xfrm xmlns:a="http://schemas.openxmlformats.org/drawingml/2006/main">
            <a:off x="8858250" y="475059"/>
            <a:ext cx="2667000" cy="105013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B022C-3910-4C9B-A83A-E6B987A7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048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Criterio recomendado para la convocatoria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23103-749E-49BC-8A90-9C9B4F25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Mantener los 470 negocios en la prelista. Usar el RNT como condición de verificación cuando la norma lo exija, sin convertir la falta de coincidencia nominal en una exclusión automática.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067BF-BCB9-4D15-BD52-CD27E84B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6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6F1"/>
                </a:solidFill>
                <a:latin typeface="Arial"/>
                <a:ea typeface="Arial"/>
                <a:cs typeface="Arial"/>
              </a:rPr>
              <a:t>La matriz permite ordenar la revisión por municipio, severidad, cierre operativo y ruta de validación.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8AA31-7F14-4683-B8AF-45F1E8CF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7D8"/>
                </a:solidFill>
                <a:latin typeface="Arial"/>
                <a:ea typeface="Arial"/>
                <a:cs typeface="Arial"/>
              </a:rPr>
              <a:t>Corte técnico 16 de 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117219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2026-09-16T13:30:53.1470000Z</dcterms:created>
  <dcterms:modified xsi:type="dcterms:W3CDTF">2026-09-16T13:30:53.1470000Z</dcterms:modified>
</coreProperties>
</file>