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3306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complementario al censo de empresas de turismo afectadas. Cifras recalculadas sobre el corte del 3 de septiembre, depurado de doble notificación. El RNT se compara por municipio, no estableciendo por establecimiento.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tramo de empleo es un conteo exacto de establecimientos. La cifra de empleos (3.281 a 10.275 en el departamento) es un intervalo porque los rangos no permiten sumar exacto, y por eso no se grafica aquí.</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informe departamental reporta 29,5 % normal, 42,2 % parcial y 28,4 % sin operar sobre 12.629 empresas. Esta base, depurada de doble notificación, da 28,7 / 42,4 / 28,9 sobre 11.877: la diferencia es menor a un punto en los tres estados.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tipología es una heurística sobre la razón social, no un dato del censo. Sirve para orientar el diseño del alivio, no para contar el universo. Pedir el tipo de prestador en el formulario cerraría este vacío.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variable «Pérdidas económicas» se declara en cuatro rangos. La suma solo puede acotarse por abajo, porque el tramo «más de $100 millones» no tiene techo. 1.551 de los 1.839 negocios turísticos respondieron esta pregunta.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9E9"/>
        </a:solidFill>
        <a:effectLst/>
      </p:bgPr>
    </p:bg>
    <p:spTree>
      <p:nvGrpSpPr>
        <p:cNvPr id="1" name=""/>
        <p:cNvGrpSpPr/>
        <p:nvPr/>
      </p:nvGrpSpPr>
      <p:grpSpPr>
        <a:xfrm>
          <a:off x="0" y="0"/>
          <a:ext cx="0" cy="0"/>
          <a:chOff x="0" y="0"/>
          <a:chExt cx="0" cy="0"/>
        </a:xfrm>
      </p:grpSpPr>
      <p:pic>
        <p:nvPicPr>
          <p:cNvPr id="2" name="Image 0" descr="franja_agua.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1600200"/>
            <a:ext cx="8412480" cy="310896"/>
          </a:xfrm>
          <a:prstGeom prst="rect">
            <a:avLst/>
          </a:prstGeom>
          <a:noFill/>
          <a:ln/>
        </p:spPr>
        <p:txBody>
          <a:bodyPr wrap="square" lIns="0" tIns="0" rIns="0" bIns="0" rtlCol="0" anchor="ctr"/>
          <a:lstStyle/>
          <a:p>
            <a:pPr marL="0" indent="0">
              <a:buNone/>
            </a:pPr>
            <a:r>
              <a:rPr lang="en-US" sz="1250" b="1" kern="0" spc="220" dirty="0">
                <a:solidFill>
                  <a:srgbClr val="5A5A5A"/>
                </a:solidFill>
                <a:latin typeface="Calibri" pitchFamily="34" charset="0"/>
                <a:ea typeface="Calibri" pitchFamily="34" charset="-122"/>
                <a:cs typeface="Calibri" pitchFamily="34" charset="-120"/>
              </a:rPr>
              <a:t>OBSERVATORIO DE TURISMO · VALLE DEL CAUCA</a:t>
            </a:r>
            <a:endParaRPr lang="en-US" sz="1250" dirty="0"/>
          </a:p>
        </p:txBody>
      </p:sp>
      <p:sp>
        <p:nvSpPr>
          <p:cNvPr id="5" name="Text 1"/>
          <p:cNvSpPr txBox="1"/>
          <p:nvPr/>
        </p:nvSpPr>
        <p:spPr>
          <a:xfrm>
            <a:off x="3337560" y="2011680"/>
            <a:ext cx="8412480" cy="1371600"/>
          </a:xfrm>
          <a:prstGeom prst="rect">
            <a:avLst/>
          </a:prstGeom>
          <a:noFill/>
          <a:ln/>
        </p:spPr>
        <p:txBody>
          <a:bodyPr wrap="square" lIns="0" tIns="0" rIns="0" bIns="0" rtlCol="0" anchor="ctr"/>
          <a:lstStyle/>
          <a:p>
            <a:pPr marL="0" indent="0">
              <a:lnSpc>
                <a:spcPts val="4600"/>
              </a:lnSpc>
              <a:buNone/>
            </a:pPr>
            <a:r>
              <a:rPr lang="en-US" sz="4000" b="1" dirty="0">
                <a:solidFill>
                  <a:srgbClr val="1F3864"/>
                </a:solidFill>
                <a:latin typeface="Calibri" pitchFamily="34" charset="0"/>
                <a:ea typeface="Calibri" pitchFamily="34" charset="-122"/>
                <a:cs typeface="Calibri" pitchFamily="34" charset="-120"/>
              </a:rPr>
              <a:t>La cadena de valor del turismo</a:t>
            </a:r>
            <a:endParaRPr lang="en-US" sz="4000" dirty="0"/>
          </a:p>
          <a:p>
            <a:pPr marL="0" indent="0">
              <a:lnSpc>
                <a:spcPts val="4600"/>
              </a:lnSpc>
              <a:buNone/>
            </a:pPr>
            <a:r>
              <a:rPr lang="en-US" sz="4000" b="1" dirty="0">
                <a:solidFill>
                  <a:srgbClr val="1F3864"/>
                </a:solidFill>
                <a:latin typeface="Calibri" pitchFamily="34" charset="0"/>
                <a:ea typeface="Calibri" pitchFamily="34" charset="-122"/>
                <a:cs typeface="Calibri" pitchFamily="34" charset="-120"/>
              </a:rPr>
              <a:t>después del terremoto</a:t>
            </a:r>
            <a:endParaRPr lang="en-US" sz="4000" dirty="0"/>
          </a:p>
        </p:txBody>
      </p:sp>
      <p:sp>
        <p:nvSpPr>
          <p:cNvPr id="6" name="Text 2"/>
          <p:cNvSpPr txBox="1"/>
          <p:nvPr/>
        </p:nvSpPr>
        <p:spPr>
          <a:xfrm>
            <a:off x="3337560" y="3520440"/>
            <a:ext cx="8412480" cy="365760"/>
          </a:xfrm>
          <a:prstGeom prst="rect">
            <a:avLst/>
          </a:prstGeom>
          <a:noFill/>
          <a:ln/>
        </p:spPr>
        <p:txBody>
          <a:bodyPr wrap="square" lIns="0" tIns="0" rIns="0" bIns="0" rtlCol="0" anchor="ctr"/>
          <a:lstStyle/>
          <a:p>
            <a:pPr marL="0" indent="0">
              <a:buNone/>
            </a:pPr>
            <a:r>
              <a:rPr lang="en-US" sz="1600" dirty="0">
                <a:solidFill>
                  <a:srgbClr val="3A3A3A"/>
                </a:solidFill>
                <a:latin typeface="Calibri" pitchFamily="34" charset="0"/>
                <a:ea typeface="Calibri" pitchFamily="34" charset="-122"/>
                <a:cs typeface="Calibri" pitchFamily="34" charset="-120"/>
              </a:rPr>
              <a:t>Censo de afectación y Registro Nacional de Turismo, municipio a municipio</a:t>
            </a:r>
            <a:endParaRPr lang="en-US" sz="1600" dirty="0"/>
          </a:p>
        </p:txBody>
      </p:sp>
      <p:sp>
        <p:nvSpPr>
          <p:cNvPr id="7" name="Text 3"/>
          <p:cNvSpPr txBox="1"/>
          <p:nvPr/>
        </p:nvSpPr>
        <p:spPr>
          <a:xfrm>
            <a:off x="3337560" y="4160520"/>
            <a:ext cx="8412480" cy="868680"/>
          </a:xfrm>
          <a:prstGeom prst="rect">
            <a:avLst/>
          </a:prstGeom>
          <a:noFill/>
          <a:ln/>
        </p:spPr>
        <p:txBody>
          <a:bodyPr wrap="square" lIns="0" tIns="0" rIns="0" bIns="0" rtlCol="0" anchor="ctr"/>
          <a:lstStyle/>
          <a:p>
            <a:pPr marL="0" indent="0">
              <a:lnSpc>
                <a:spcPts val="2200"/>
              </a:lnSpc>
              <a:buNone/>
            </a:pPr>
            <a:r>
              <a:rPr lang="en-US" sz="1400" b="1" dirty="0">
                <a:solidFill>
                  <a:srgbClr val="B3261E"/>
                </a:solidFill>
                <a:latin typeface="Calibri" pitchFamily="34" charset="0"/>
                <a:ea typeface="Calibri" pitchFamily="34" charset="-122"/>
                <a:cs typeface="Calibri" pitchFamily="34" charset="-120"/>
              </a:rPr>
              <a:t>1.839 negocios turísticos afectados en 42 municipios</a:t>
            </a:r>
            <a:endParaRPr lang="en-US" sz="1400" dirty="0"/>
          </a:p>
          <a:p>
            <a:pPr marL="0" indent="0">
              <a:lnSpc>
                <a:spcPts val="2200"/>
              </a:lnSpc>
              <a:buNone/>
            </a:pPr>
            <a:r>
              <a:rPr lang="en-US" sz="1400" dirty="0">
                <a:solidFill>
                  <a:srgbClr val="B3261E"/>
                </a:solidFill>
                <a:latin typeface="Calibri" pitchFamily="34" charset="0"/>
                <a:ea typeface="Calibri" pitchFamily="34" charset="-122"/>
                <a:cs typeface="Calibri" pitchFamily="34" charset="-120"/>
              </a:rPr>
              <a:t>62,8 % en nivel crítico o grave  ·  1.161 con empleo comprometido (63,1 %)  ·  $18.470 millones en pérdidas declaradas</a:t>
            </a:r>
            <a:endParaRPr lang="en-US" sz="1400" dirty="0"/>
          </a:p>
        </p:txBody>
      </p:sp>
      <p:sp>
        <p:nvSpPr>
          <p:cNvPr id="8" name="Text 4"/>
          <p:cNvSpPr txBox="1"/>
          <p:nvPr/>
        </p:nvSpPr>
        <p:spPr>
          <a:xfrm>
            <a:off x="3337560" y="5212080"/>
            <a:ext cx="8412480" cy="274320"/>
          </a:xfrm>
          <a:prstGeom prst="rect">
            <a:avLst/>
          </a:prstGeom>
          <a:noFill/>
          <a:ln/>
        </p:spPr>
        <p:txBody>
          <a:bodyPr wrap="square" lIns="0" tIns="0" rIns="0" bIns="0" rtlCol="0" anchor="ctr"/>
          <a:lstStyle/>
          <a:p>
            <a:pPr marL="0" indent="0">
              <a:buNone/>
            </a:pPr>
            <a:r>
              <a:rPr lang="en-US" sz="1100" dirty="0">
                <a:solidFill>
                  <a:srgbClr val="8A8A8A"/>
                </a:solidFill>
                <a:latin typeface="Calibri" pitchFamily="34" charset="0"/>
                <a:ea typeface="Calibri" pitchFamily="34" charset="-122"/>
                <a:cs typeface="Calibri" pitchFamily="34" charset="-120"/>
              </a:rPr>
              <a:t>Corte 3 de septiembre de 2026 · sismo del 10 de agosto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9E9"/>
        </a:solidFill>
        <a:effectLst/>
      </p:bgPr>
    </p:bg>
    <p:spTree>
      <p:nvGrpSpPr>
        <p:cNvPr id="1" name=""/>
        <p:cNvGrpSpPr/>
        <p:nvPr/>
      </p:nvGrpSpPr>
      <p:grpSpPr>
        <a:xfrm>
          <a:off x="0" y="0"/>
          <a:ext cx="0" cy="0"/>
          <a:chOff x="0" y="0"/>
          <a:chExt cx="0" cy="0"/>
        </a:xfrm>
      </p:grpSpPr>
      <p:pic>
        <p:nvPicPr>
          <p:cNvPr id="2" name="Image 0" descr="franja_sombrero.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Las cifras que resumen el impacto</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Alojamiento, comida y transporte · 1.839 de los 14.873 establecimientos del censo</a:t>
            </a:r>
            <a:endParaRPr lang="en-US" sz="1250" dirty="0"/>
          </a:p>
        </p:txBody>
      </p:sp>
      <p:sp>
        <p:nvSpPr>
          <p:cNvPr id="6" name="Shape 2"/>
          <p:cNvSpPr/>
          <p:nvPr/>
        </p:nvSpPr>
        <p:spPr>
          <a:xfrm>
            <a:off x="3337560" y="1444752"/>
            <a:ext cx="2651760" cy="1481328"/>
          </a:xfrm>
          <a:prstGeom prst="roundRect">
            <a:avLst>
              <a:gd name="adj" fmla="val 3704"/>
            </a:avLst>
          </a:prstGeom>
          <a:solidFill>
            <a:srgbClr val="FFFFFF"/>
          </a:solidFill>
          <a:ln w="12700">
            <a:solidFill>
              <a:srgbClr val="E6DFCB"/>
            </a:solidFill>
            <a:prstDash val="solid"/>
          </a:ln>
          <a:effectLst>
            <a:outerShdw blurRad="76200" dist="12700" dir="5400000" algn="bl" rotWithShape="0">
              <a:srgbClr val="C9BFA5">
                <a:alpha val="30000"/>
              </a:srgbClr>
            </a:outerShdw>
          </a:effectLst>
        </p:spPr>
      </p:sp>
      <p:sp>
        <p:nvSpPr>
          <p:cNvPr id="7" name="Text 3"/>
          <p:cNvSpPr txBox="1"/>
          <p:nvPr/>
        </p:nvSpPr>
        <p:spPr>
          <a:xfrm>
            <a:off x="3483864" y="1572768"/>
            <a:ext cx="2359152" cy="681411"/>
          </a:xfrm>
          <a:prstGeom prst="rect">
            <a:avLst/>
          </a:prstGeom>
          <a:noFill/>
          <a:ln/>
        </p:spPr>
        <p:txBody>
          <a:bodyPr wrap="square" lIns="0" tIns="0" rIns="0" bIns="0" rtlCol="0" anchor="ctr"/>
          <a:lstStyle/>
          <a:p>
            <a:pPr marL="0" indent="0">
              <a:buNone/>
            </a:pPr>
            <a:r>
              <a:rPr lang="en-US" sz="3000" b="1" dirty="0">
                <a:solidFill>
                  <a:srgbClr val="B3261E"/>
                </a:solidFill>
                <a:latin typeface="Calibri" pitchFamily="34" charset="0"/>
                <a:ea typeface="Calibri" pitchFamily="34" charset="-122"/>
                <a:cs typeface="Calibri" pitchFamily="34" charset="-120"/>
              </a:rPr>
              <a:t>1.839</a:t>
            </a:r>
            <a:endParaRPr lang="en-US" sz="3000" dirty="0"/>
          </a:p>
        </p:txBody>
      </p:sp>
      <p:sp>
        <p:nvSpPr>
          <p:cNvPr id="8" name="Text 4"/>
          <p:cNvSpPr txBox="1"/>
          <p:nvPr/>
        </p:nvSpPr>
        <p:spPr>
          <a:xfrm>
            <a:off x="3483864" y="2185416"/>
            <a:ext cx="2359152" cy="384048"/>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Negocios afectados</a:t>
            </a:r>
            <a:endParaRPr lang="en-US" sz="1150" dirty="0"/>
          </a:p>
        </p:txBody>
      </p:sp>
      <p:sp>
        <p:nvSpPr>
          <p:cNvPr id="9" name="Text 5"/>
          <p:cNvSpPr txBox="1"/>
          <p:nvPr/>
        </p:nvSpPr>
        <p:spPr>
          <a:xfrm>
            <a:off x="3483864" y="2511308"/>
            <a:ext cx="2359152" cy="402336"/>
          </a:xfrm>
          <a:prstGeom prst="rect">
            <a:avLst/>
          </a:prstGeom>
          <a:noFill/>
          <a:ln/>
        </p:spPr>
        <p:txBody>
          <a:bodyPr wrap="square" lIns="0" tIns="0" rIns="0" bIns="0" rtlCol="0" anchor="ctr"/>
          <a:lstStyle/>
          <a:p>
            <a:pPr marL="0" indent="0">
              <a:buNone/>
            </a:pPr>
            <a:r>
              <a:rPr lang="en-US" sz="950" dirty="0">
                <a:solidFill>
                  <a:srgbClr val="5A5A5A"/>
                </a:solidFill>
                <a:latin typeface="Calibri" pitchFamily="34" charset="0"/>
                <a:ea typeface="Calibri" pitchFamily="34" charset="-122"/>
                <a:cs typeface="Calibri" pitchFamily="34" charset="-120"/>
              </a:rPr>
              <a:t>12,4 % del censo total</a:t>
            </a:r>
            <a:endParaRPr lang="en-US" sz="950" dirty="0"/>
          </a:p>
        </p:txBody>
      </p:sp>
      <p:sp>
        <p:nvSpPr>
          <p:cNvPr id="10" name="Shape 6"/>
          <p:cNvSpPr/>
          <p:nvPr/>
        </p:nvSpPr>
        <p:spPr>
          <a:xfrm>
            <a:off x="6217920" y="1444752"/>
            <a:ext cx="2651760" cy="1481328"/>
          </a:xfrm>
          <a:prstGeom prst="roundRect">
            <a:avLst>
              <a:gd name="adj" fmla="val 3704"/>
            </a:avLst>
          </a:prstGeom>
          <a:solidFill>
            <a:srgbClr val="FFFFFF"/>
          </a:solidFill>
          <a:ln w="12700">
            <a:solidFill>
              <a:srgbClr val="E6DFCB"/>
            </a:solidFill>
            <a:prstDash val="solid"/>
          </a:ln>
          <a:effectLst>
            <a:outerShdw blurRad="76200" dist="12700" dir="5400000" algn="bl" rotWithShape="0">
              <a:srgbClr val="C9BFA5">
                <a:alpha val="30000"/>
              </a:srgbClr>
            </a:outerShdw>
          </a:effectLst>
        </p:spPr>
      </p:sp>
      <p:sp>
        <p:nvSpPr>
          <p:cNvPr id="11" name="Text 7"/>
          <p:cNvSpPr txBox="1"/>
          <p:nvPr/>
        </p:nvSpPr>
        <p:spPr>
          <a:xfrm>
            <a:off x="6364224" y="1572768"/>
            <a:ext cx="2359152" cy="681411"/>
          </a:xfrm>
          <a:prstGeom prst="rect">
            <a:avLst/>
          </a:prstGeom>
          <a:noFill/>
          <a:ln/>
        </p:spPr>
        <p:txBody>
          <a:bodyPr wrap="square" lIns="0" tIns="0" rIns="0" bIns="0" rtlCol="0" anchor="ctr"/>
          <a:lstStyle/>
          <a:p>
            <a:pPr marL="0" indent="0">
              <a:buNone/>
            </a:pPr>
            <a:r>
              <a:rPr lang="en-US" sz="3000" b="1" dirty="0">
                <a:solidFill>
                  <a:srgbClr val="B3261E"/>
                </a:solidFill>
                <a:latin typeface="Calibri" pitchFamily="34" charset="0"/>
                <a:ea typeface="Calibri" pitchFamily="34" charset="-122"/>
                <a:cs typeface="Calibri" pitchFamily="34" charset="-120"/>
              </a:rPr>
              <a:t>62,8 %</a:t>
            </a:r>
            <a:endParaRPr lang="en-US" sz="3000" dirty="0"/>
          </a:p>
        </p:txBody>
      </p:sp>
      <p:sp>
        <p:nvSpPr>
          <p:cNvPr id="12" name="Text 8"/>
          <p:cNvSpPr txBox="1"/>
          <p:nvPr/>
        </p:nvSpPr>
        <p:spPr>
          <a:xfrm>
            <a:off x="6364224" y="2185416"/>
            <a:ext cx="2359152" cy="384048"/>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En nivel crítico o grave</a:t>
            </a:r>
            <a:endParaRPr lang="en-US" sz="1150" dirty="0"/>
          </a:p>
        </p:txBody>
      </p:sp>
      <p:sp>
        <p:nvSpPr>
          <p:cNvPr id="13" name="Text 9"/>
          <p:cNvSpPr txBox="1"/>
          <p:nvPr/>
        </p:nvSpPr>
        <p:spPr>
          <a:xfrm>
            <a:off x="6364224" y="2511308"/>
            <a:ext cx="2359152" cy="402336"/>
          </a:xfrm>
          <a:prstGeom prst="rect">
            <a:avLst/>
          </a:prstGeom>
          <a:noFill/>
          <a:ln/>
        </p:spPr>
        <p:txBody>
          <a:bodyPr wrap="square" lIns="0" tIns="0" rIns="0" bIns="0" rtlCol="0" anchor="ctr"/>
          <a:lstStyle/>
          <a:p>
            <a:pPr marL="0" indent="0">
              <a:buNone/>
            </a:pPr>
            <a:r>
              <a:rPr lang="en-US" sz="950" dirty="0">
                <a:solidFill>
                  <a:srgbClr val="5A5A5A"/>
                </a:solidFill>
                <a:latin typeface="Calibri" pitchFamily="34" charset="0"/>
                <a:ea typeface="Calibri" pitchFamily="34" charset="-122"/>
                <a:cs typeface="Calibri" pitchFamily="34" charset="-120"/>
              </a:rPr>
              <a:t>1.154 establecimientos</a:t>
            </a:r>
            <a:endParaRPr lang="en-US" sz="950" dirty="0"/>
          </a:p>
        </p:txBody>
      </p:sp>
      <p:sp>
        <p:nvSpPr>
          <p:cNvPr id="14" name="Shape 10"/>
          <p:cNvSpPr/>
          <p:nvPr/>
        </p:nvSpPr>
        <p:spPr>
          <a:xfrm>
            <a:off x="9098280" y="1444752"/>
            <a:ext cx="2651760" cy="1481328"/>
          </a:xfrm>
          <a:prstGeom prst="roundRect">
            <a:avLst>
              <a:gd name="adj" fmla="val 3704"/>
            </a:avLst>
          </a:prstGeom>
          <a:solidFill>
            <a:srgbClr val="FFFFFF"/>
          </a:solidFill>
          <a:ln w="12700">
            <a:solidFill>
              <a:srgbClr val="E6DFCB"/>
            </a:solidFill>
            <a:prstDash val="solid"/>
          </a:ln>
          <a:effectLst>
            <a:outerShdw blurRad="76200" dist="12700" dir="5400000" algn="bl" rotWithShape="0">
              <a:srgbClr val="C9BFA5">
                <a:alpha val="30000"/>
              </a:srgbClr>
            </a:outerShdw>
          </a:effectLst>
        </p:spPr>
      </p:sp>
      <p:sp>
        <p:nvSpPr>
          <p:cNvPr id="15" name="Text 11"/>
          <p:cNvSpPr txBox="1"/>
          <p:nvPr/>
        </p:nvSpPr>
        <p:spPr>
          <a:xfrm>
            <a:off x="9244584" y="1572768"/>
            <a:ext cx="2359152" cy="681411"/>
          </a:xfrm>
          <a:prstGeom prst="rect">
            <a:avLst/>
          </a:prstGeom>
          <a:noFill/>
          <a:ln/>
        </p:spPr>
        <p:txBody>
          <a:bodyPr wrap="square" lIns="0" tIns="0" rIns="0" bIns="0" rtlCol="0" anchor="ctr"/>
          <a:lstStyle/>
          <a:p>
            <a:pPr marL="0" indent="0">
              <a:buNone/>
            </a:pPr>
            <a:r>
              <a:rPr lang="en-US" sz="3000" b="1" dirty="0">
                <a:solidFill>
                  <a:srgbClr val="C2410C"/>
                </a:solidFill>
                <a:latin typeface="Calibri" pitchFamily="34" charset="0"/>
                <a:ea typeface="Calibri" pitchFamily="34" charset="-122"/>
                <a:cs typeface="Calibri" pitchFamily="34" charset="-120"/>
              </a:rPr>
              <a:t>35,5 %</a:t>
            </a:r>
            <a:endParaRPr lang="en-US" sz="3000" dirty="0"/>
          </a:p>
        </p:txBody>
      </p:sp>
      <p:sp>
        <p:nvSpPr>
          <p:cNvPr id="16" name="Text 12"/>
          <p:cNvSpPr txBox="1"/>
          <p:nvPr/>
        </p:nvSpPr>
        <p:spPr>
          <a:xfrm>
            <a:off x="9244584" y="2185416"/>
            <a:ext cx="2359152" cy="384048"/>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No puede operar</a:t>
            </a:r>
            <a:endParaRPr lang="en-US" sz="1150" dirty="0"/>
          </a:p>
        </p:txBody>
      </p:sp>
      <p:sp>
        <p:nvSpPr>
          <p:cNvPr id="17" name="Text 13"/>
          <p:cNvSpPr txBox="1"/>
          <p:nvPr/>
        </p:nvSpPr>
        <p:spPr>
          <a:xfrm>
            <a:off x="9244584" y="2511308"/>
            <a:ext cx="2359152" cy="402336"/>
          </a:xfrm>
          <a:prstGeom prst="rect">
            <a:avLst/>
          </a:prstGeom>
          <a:noFill/>
          <a:ln/>
        </p:spPr>
        <p:txBody>
          <a:bodyPr wrap="square" lIns="0" tIns="0" rIns="0" bIns="0" rtlCol="0" anchor="ctr"/>
          <a:lstStyle/>
          <a:p>
            <a:pPr marL="0" indent="0">
              <a:buNone/>
            </a:pPr>
            <a:r>
              <a:rPr lang="en-US" sz="950" dirty="0">
                <a:solidFill>
                  <a:srgbClr val="5A5A5A"/>
                </a:solidFill>
                <a:latin typeface="Calibri" pitchFamily="34" charset="0"/>
                <a:ea typeface="Calibri" pitchFamily="34" charset="-122"/>
                <a:cs typeface="Calibri" pitchFamily="34" charset="-120"/>
              </a:rPr>
              <a:t>552 de 1.557 que informan</a:t>
            </a:r>
            <a:endParaRPr lang="en-US" sz="950" dirty="0"/>
          </a:p>
        </p:txBody>
      </p:sp>
      <p:sp>
        <p:nvSpPr>
          <p:cNvPr id="18" name="Shape 14"/>
          <p:cNvSpPr/>
          <p:nvPr/>
        </p:nvSpPr>
        <p:spPr>
          <a:xfrm>
            <a:off x="3337560" y="3182112"/>
            <a:ext cx="2651760" cy="1481328"/>
          </a:xfrm>
          <a:prstGeom prst="roundRect">
            <a:avLst>
              <a:gd name="adj" fmla="val 3704"/>
            </a:avLst>
          </a:prstGeom>
          <a:solidFill>
            <a:srgbClr val="FFFFFF"/>
          </a:solidFill>
          <a:ln w="12700">
            <a:solidFill>
              <a:srgbClr val="E6DFCB"/>
            </a:solidFill>
            <a:prstDash val="solid"/>
          </a:ln>
          <a:effectLst>
            <a:outerShdw blurRad="76200" dist="12700" dir="5400000" algn="bl" rotWithShape="0">
              <a:srgbClr val="C9BFA5">
                <a:alpha val="30000"/>
              </a:srgbClr>
            </a:outerShdw>
          </a:effectLst>
        </p:spPr>
      </p:sp>
      <p:sp>
        <p:nvSpPr>
          <p:cNvPr id="19" name="Text 15"/>
          <p:cNvSpPr txBox="1"/>
          <p:nvPr/>
        </p:nvSpPr>
        <p:spPr>
          <a:xfrm>
            <a:off x="3483864" y="3310128"/>
            <a:ext cx="2359152" cy="681411"/>
          </a:xfrm>
          <a:prstGeom prst="rect">
            <a:avLst/>
          </a:prstGeom>
          <a:noFill/>
          <a:ln/>
        </p:spPr>
        <p:txBody>
          <a:bodyPr wrap="square" lIns="0" tIns="0" rIns="0" bIns="0" rtlCol="0" anchor="ctr"/>
          <a:lstStyle/>
          <a:p>
            <a:pPr marL="0" indent="0">
              <a:buNone/>
            </a:pPr>
            <a:r>
              <a:rPr lang="en-US" sz="3000" b="1" dirty="0">
                <a:solidFill>
                  <a:srgbClr val="C2410C"/>
                </a:solidFill>
                <a:latin typeface="Calibri" pitchFamily="34" charset="0"/>
                <a:ea typeface="Calibri" pitchFamily="34" charset="-122"/>
                <a:cs typeface="Calibri" pitchFamily="34" charset="-120"/>
              </a:rPr>
              <a:t>1.161</a:t>
            </a:r>
            <a:endParaRPr lang="en-US" sz="3000" dirty="0"/>
          </a:p>
        </p:txBody>
      </p:sp>
      <p:sp>
        <p:nvSpPr>
          <p:cNvPr id="20" name="Text 16"/>
          <p:cNvSpPr txBox="1"/>
          <p:nvPr/>
        </p:nvSpPr>
        <p:spPr>
          <a:xfrm>
            <a:off x="3483864" y="3922776"/>
            <a:ext cx="2359152" cy="384048"/>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Con empleo en riesgo</a:t>
            </a:r>
            <a:endParaRPr lang="en-US" sz="1150" dirty="0"/>
          </a:p>
        </p:txBody>
      </p:sp>
      <p:sp>
        <p:nvSpPr>
          <p:cNvPr id="21" name="Text 17"/>
          <p:cNvSpPr txBox="1"/>
          <p:nvPr/>
        </p:nvSpPr>
        <p:spPr>
          <a:xfrm>
            <a:off x="3483864" y="4248668"/>
            <a:ext cx="2359152" cy="402336"/>
          </a:xfrm>
          <a:prstGeom prst="rect">
            <a:avLst/>
          </a:prstGeom>
          <a:noFill/>
          <a:ln/>
        </p:spPr>
        <p:txBody>
          <a:bodyPr wrap="square" lIns="0" tIns="0" rIns="0" bIns="0" rtlCol="0" anchor="ctr"/>
          <a:lstStyle/>
          <a:p>
            <a:pPr marL="0" indent="0">
              <a:buNone/>
            </a:pPr>
            <a:r>
              <a:rPr lang="en-US" sz="950" dirty="0">
                <a:solidFill>
                  <a:srgbClr val="5A5A5A"/>
                </a:solidFill>
                <a:latin typeface="Calibri" pitchFamily="34" charset="0"/>
                <a:ea typeface="Calibri" pitchFamily="34" charset="-122"/>
                <a:cs typeface="Calibri" pitchFamily="34" charset="-120"/>
              </a:rPr>
              <a:t>63,1 % de los 1.839 · 81,0 % de los 1.434 que responden</a:t>
            </a:r>
            <a:endParaRPr lang="en-US" sz="950" dirty="0"/>
          </a:p>
        </p:txBody>
      </p:sp>
      <p:sp>
        <p:nvSpPr>
          <p:cNvPr id="22" name="Shape 18"/>
          <p:cNvSpPr/>
          <p:nvPr/>
        </p:nvSpPr>
        <p:spPr>
          <a:xfrm>
            <a:off x="6217920" y="3182112"/>
            <a:ext cx="2651760" cy="1481328"/>
          </a:xfrm>
          <a:prstGeom prst="roundRect">
            <a:avLst>
              <a:gd name="adj" fmla="val 3704"/>
            </a:avLst>
          </a:prstGeom>
          <a:solidFill>
            <a:srgbClr val="FFFFFF"/>
          </a:solidFill>
          <a:ln w="12700">
            <a:solidFill>
              <a:srgbClr val="E6DFCB"/>
            </a:solidFill>
            <a:prstDash val="solid"/>
          </a:ln>
          <a:effectLst>
            <a:outerShdw blurRad="76200" dist="12700" dir="5400000" algn="bl" rotWithShape="0">
              <a:srgbClr val="C9BFA5">
                <a:alpha val="30000"/>
              </a:srgbClr>
            </a:outerShdw>
          </a:effectLst>
        </p:spPr>
      </p:sp>
      <p:sp>
        <p:nvSpPr>
          <p:cNvPr id="23" name="Text 19"/>
          <p:cNvSpPr txBox="1"/>
          <p:nvPr/>
        </p:nvSpPr>
        <p:spPr>
          <a:xfrm>
            <a:off x="6364224" y="3310128"/>
            <a:ext cx="2359152" cy="681411"/>
          </a:xfrm>
          <a:prstGeom prst="rect">
            <a:avLst/>
          </a:prstGeom>
          <a:noFill/>
          <a:ln/>
        </p:spPr>
        <p:txBody>
          <a:bodyPr wrap="square" lIns="0" tIns="0" rIns="0" bIns="0" rtlCol="0" anchor="ctr"/>
          <a:lstStyle/>
          <a:p>
            <a:pPr marL="0" indent="0">
              <a:buNone/>
            </a:pPr>
            <a:r>
              <a:rPr lang="en-US" sz="3000" b="1" dirty="0">
                <a:solidFill>
                  <a:srgbClr val="B3261E"/>
                </a:solidFill>
                <a:latin typeface="Calibri" pitchFamily="34" charset="0"/>
                <a:ea typeface="Calibri" pitchFamily="34" charset="-122"/>
                <a:cs typeface="Calibri" pitchFamily="34" charset="-120"/>
              </a:rPr>
              <a:t>$18.470 M</a:t>
            </a:r>
            <a:endParaRPr lang="en-US" sz="3000" dirty="0"/>
          </a:p>
        </p:txBody>
      </p:sp>
      <p:sp>
        <p:nvSpPr>
          <p:cNvPr id="24" name="Text 20"/>
          <p:cNvSpPr txBox="1"/>
          <p:nvPr/>
        </p:nvSpPr>
        <p:spPr>
          <a:xfrm>
            <a:off x="6364224" y="3922776"/>
            <a:ext cx="2359152" cy="384048"/>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Pérdidas declaradas</a:t>
            </a:r>
            <a:endParaRPr lang="en-US" sz="1150" dirty="0"/>
          </a:p>
        </p:txBody>
      </p:sp>
      <p:sp>
        <p:nvSpPr>
          <p:cNvPr id="25" name="Text 21"/>
          <p:cNvSpPr txBox="1"/>
          <p:nvPr/>
        </p:nvSpPr>
        <p:spPr>
          <a:xfrm>
            <a:off x="6364224" y="4248668"/>
            <a:ext cx="2359152" cy="402336"/>
          </a:xfrm>
          <a:prstGeom prst="rect">
            <a:avLst/>
          </a:prstGeom>
          <a:noFill/>
          <a:ln/>
        </p:spPr>
        <p:txBody>
          <a:bodyPr wrap="square" lIns="0" tIns="0" rIns="0" bIns="0" rtlCol="0" anchor="ctr"/>
          <a:lstStyle/>
          <a:p>
            <a:pPr marL="0" indent="0">
              <a:buNone/>
            </a:pPr>
            <a:r>
              <a:rPr lang="en-US" sz="950" dirty="0">
                <a:solidFill>
                  <a:srgbClr val="5A5A5A"/>
                </a:solidFill>
                <a:latin typeface="Calibri" pitchFamily="34" charset="0"/>
                <a:ea typeface="Calibri" pitchFamily="34" charset="-122"/>
                <a:cs typeface="Calibri" pitchFamily="34" charset="-120"/>
              </a:rPr>
              <a:t>piso; 89 sin techo declarado</a:t>
            </a:r>
            <a:endParaRPr lang="en-US" sz="950" dirty="0"/>
          </a:p>
        </p:txBody>
      </p:sp>
      <p:sp>
        <p:nvSpPr>
          <p:cNvPr id="26" name="Shape 22"/>
          <p:cNvSpPr/>
          <p:nvPr/>
        </p:nvSpPr>
        <p:spPr>
          <a:xfrm>
            <a:off x="9098280" y="3182112"/>
            <a:ext cx="2651760" cy="1481328"/>
          </a:xfrm>
          <a:prstGeom prst="roundRect">
            <a:avLst>
              <a:gd name="adj" fmla="val 3704"/>
            </a:avLst>
          </a:prstGeom>
          <a:solidFill>
            <a:srgbClr val="FFFFFF"/>
          </a:solidFill>
          <a:ln w="12700">
            <a:solidFill>
              <a:srgbClr val="E6DFCB"/>
            </a:solidFill>
            <a:prstDash val="solid"/>
          </a:ln>
          <a:effectLst>
            <a:outerShdw blurRad="76200" dist="12700" dir="5400000" algn="bl" rotWithShape="0">
              <a:srgbClr val="C9BFA5">
                <a:alpha val="30000"/>
              </a:srgbClr>
            </a:outerShdw>
          </a:effectLst>
        </p:spPr>
      </p:sp>
      <p:sp>
        <p:nvSpPr>
          <p:cNvPr id="27" name="Text 23"/>
          <p:cNvSpPr txBox="1"/>
          <p:nvPr/>
        </p:nvSpPr>
        <p:spPr>
          <a:xfrm>
            <a:off x="9244584" y="3310128"/>
            <a:ext cx="2359152" cy="681411"/>
          </a:xfrm>
          <a:prstGeom prst="rect">
            <a:avLst/>
          </a:prstGeom>
          <a:noFill/>
          <a:ln/>
        </p:spPr>
        <p:txBody>
          <a:bodyPr wrap="square" lIns="0" tIns="0" rIns="0" bIns="0" rtlCol="0" anchor="ctr"/>
          <a:lstStyle/>
          <a:p>
            <a:pPr marL="0" indent="0">
              <a:buNone/>
            </a:pPr>
            <a:r>
              <a:rPr lang="en-US" sz="3000" b="1" dirty="0">
                <a:solidFill>
                  <a:srgbClr val="1F3864"/>
                </a:solidFill>
                <a:latin typeface="Calibri" pitchFamily="34" charset="0"/>
                <a:ea typeface="Calibri" pitchFamily="34" charset="-122"/>
                <a:cs typeface="Calibri" pitchFamily="34" charset="-120"/>
              </a:rPr>
              <a:t>7.709</a:t>
            </a:r>
            <a:endParaRPr lang="en-US" sz="3000" dirty="0"/>
          </a:p>
        </p:txBody>
      </p:sp>
      <p:sp>
        <p:nvSpPr>
          <p:cNvPr id="28" name="Text 24"/>
          <p:cNvSpPr txBox="1"/>
          <p:nvPr/>
        </p:nvSpPr>
        <p:spPr>
          <a:xfrm>
            <a:off x="9244584" y="3922776"/>
            <a:ext cx="2359152" cy="384048"/>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Prestadores con RNT</a:t>
            </a:r>
            <a:endParaRPr lang="en-US" sz="1150" dirty="0"/>
          </a:p>
        </p:txBody>
      </p:sp>
      <p:sp>
        <p:nvSpPr>
          <p:cNvPr id="29" name="Text 25"/>
          <p:cNvSpPr txBox="1"/>
          <p:nvPr/>
        </p:nvSpPr>
        <p:spPr>
          <a:xfrm>
            <a:off x="9244584" y="4248668"/>
            <a:ext cx="2359152" cy="402336"/>
          </a:xfrm>
          <a:prstGeom prst="rect">
            <a:avLst/>
          </a:prstGeom>
          <a:noFill/>
          <a:ln/>
        </p:spPr>
        <p:txBody>
          <a:bodyPr wrap="square" lIns="0" tIns="0" rIns="0" bIns="0" rtlCol="0" anchor="ctr"/>
          <a:lstStyle/>
          <a:p>
            <a:pPr marL="0" indent="0">
              <a:buNone/>
            </a:pPr>
            <a:r>
              <a:rPr lang="en-US" sz="950" dirty="0">
                <a:solidFill>
                  <a:srgbClr val="5A5A5A"/>
                </a:solidFill>
                <a:latin typeface="Calibri" pitchFamily="34" charset="0"/>
                <a:ea typeface="Calibri" pitchFamily="34" charset="-122"/>
                <a:cs typeface="Calibri" pitchFamily="34" charset="-120"/>
              </a:rPr>
              <a:t>oferta formal vigente 2026</a:t>
            </a:r>
            <a:endParaRPr lang="en-US" sz="950" dirty="0"/>
          </a:p>
        </p:txBody>
      </p:sp>
      <p:sp>
        <p:nvSpPr>
          <p:cNvPr id="30" name="Text 26"/>
          <p:cNvSpPr txBox="1"/>
          <p:nvPr/>
        </p:nvSpPr>
        <p:spPr>
          <a:xfrm>
            <a:off x="3337560" y="4892040"/>
            <a:ext cx="8412480" cy="685800"/>
          </a:xfrm>
          <a:prstGeom prst="rect">
            <a:avLst/>
          </a:prstGeom>
          <a:noFill/>
          <a:ln/>
        </p:spPr>
        <p:txBody>
          <a:bodyPr wrap="square" lIns="0" tIns="0" rIns="0" bIns="0" rtlCol="0" anchor="ctr"/>
          <a:lstStyle/>
          <a:p>
            <a:pPr marL="0" indent="0">
              <a:lnSpc>
                <a:spcPts val="1800"/>
              </a:lnSpc>
              <a:buNone/>
            </a:pPr>
            <a:r>
              <a:rPr lang="en-US" sz="1250" b="1" dirty="0">
                <a:solidFill>
                  <a:srgbClr val="1A1A1A"/>
                </a:solidFill>
                <a:latin typeface="Calibri" pitchFamily="34" charset="0"/>
                <a:ea typeface="Calibri" pitchFamily="34" charset="-122"/>
                <a:cs typeface="Calibri" pitchFamily="34" charset="-120"/>
              </a:rPr>
              <a:t>Lectura. </a:t>
            </a:r>
            <a:r>
              <a:rPr lang="en-US" sz="1250" dirty="0">
                <a:solidFill>
                  <a:srgbClr val="1A1A1A"/>
                </a:solidFill>
                <a:latin typeface="Calibri" pitchFamily="34" charset="0"/>
                <a:ea typeface="Calibri" pitchFamily="34" charset="-122"/>
                <a:cs typeface="Calibri" pitchFamily="34" charset="-120"/>
              </a:rPr>
              <a:t>El turismo es el 12,4 % de los establecimientos que reportaron daño, pero aporta el 13,9 % de las pérdidas declaradas y está peor que el promedio en los cuatro indicadores.</a:t>
            </a:r>
            <a:endParaRPr lang="en-US" sz="1250" dirty="0"/>
          </a:p>
        </p:txBody>
      </p:sp>
      <p:sp>
        <p:nvSpPr>
          <p:cNvPr id="31" name="Text 27"/>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Base depurada de doble notificación · corte 3 de septiembre de 2026 </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9E9"/>
        </a:solidFill>
        <a:effectLst/>
      </p:bgPr>
    </p:bg>
    <p:spTree>
      <p:nvGrpSpPr>
        <p:cNvPr id="1" name=""/>
        <p:cNvGrpSpPr/>
        <p:nvPr/>
      </p:nvGrpSpPr>
      <p:grpSpPr>
        <a:xfrm>
          <a:off x="0" y="0"/>
          <a:ext cx="0" cy="0"/>
          <a:chOff x="0" y="0"/>
          <a:chExt cx="0" cy="0"/>
        </a:xfrm>
      </p:grpSpPr>
      <p:pic>
        <p:nvPicPr>
          <p:cNvPr id="2" name="Image 0" descr="franja_mujer.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Dónde está la oferta turística formal</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7.709 prestadores con RNT vigente 2026 · 20.217 empleos declarados al registro</a:t>
            </a:r>
            <a:endParaRPr lang="en-US" sz="1250" dirty="0"/>
          </a:p>
        </p:txBody>
      </p:sp>
      <p:pic>
        <p:nvPicPr>
          <p:cNvPr id="6" name="Image 2" descr="mt4_oferta.png"/>
          <p:cNvPicPr>
            <a:picLocks noChangeAspect="1"/>
          </p:cNvPicPr>
          <p:nvPr/>
        </p:nvPicPr>
        <p:blipFill>
          <a:blip r:embed="rId5"/>
          <a:stretch>
            <a:fillRect/>
          </a:stretch>
        </p:blipFill>
        <p:spPr>
          <a:xfrm>
            <a:off x="3692348" y="1261872"/>
            <a:ext cx="4731104" cy="4983480"/>
          </a:xfrm>
          <a:prstGeom prst="rect">
            <a:avLst/>
          </a:prstGeom>
        </p:spPr>
      </p:pic>
      <p:sp>
        <p:nvSpPr>
          <p:cNvPr id="7" name="Shape 2"/>
          <p:cNvSpPr/>
          <p:nvPr/>
        </p:nvSpPr>
        <p:spPr>
          <a:xfrm>
            <a:off x="9006840" y="1325880"/>
            <a:ext cx="265176" cy="265176"/>
          </a:xfrm>
          <a:prstGeom prst="ellipse">
            <a:avLst/>
          </a:prstGeom>
          <a:solidFill>
            <a:srgbClr val="1F3864"/>
          </a:solidFill>
          <a:ln/>
        </p:spPr>
      </p:sp>
      <p:sp>
        <p:nvSpPr>
          <p:cNvPr id="8" name="Text 3"/>
          <p:cNvSpPr txBox="1"/>
          <p:nvPr/>
        </p:nvSpPr>
        <p:spPr>
          <a:xfrm>
            <a:off x="9006840" y="1325880"/>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4"/>
          <p:cNvSpPr txBox="1"/>
          <p:nvPr/>
        </p:nvSpPr>
        <p:spPr>
          <a:xfrm>
            <a:off x="9372600" y="1261872"/>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El registro se concentra en Cali</a:t>
            </a:r>
            <a:endParaRPr lang="en-US" sz="1150" dirty="0"/>
          </a:p>
        </p:txBody>
      </p:sp>
      <p:sp>
        <p:nvSpPr>
          <p:cNvPr id="10" name="Text 5"/>
          <p:cNvSpPr txBox="1"/>
          <p:nvPr/>
        </p:nvSpPr>
        <p:spPr>
          <a:xfrm>
            <a:off x="9372600" y="1773936"/>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4.500 de los 7.709 prestadores están en la capital (58,4 %). Le siguen Palmira con 461, Buga con 308 y Calima con 268.</a:t>
            </a:r>
            <a:endParaRPr lang="en-US" sz="1050" dirty="0"/>
          </a:p>
        </p:txBody>
      </p:sp>
      <p:sp>
        <p:nvSpPr>
          <p:cNvPr id="11" name="Shape 6"/>
          <p:cNvSpPr/>
          <p:nvPr/>
        </p:nvSpPr>
        <p:spPr>
          <a:xfrm>
            <a:off x="9006840" y="2953512"/>
            <a:ext cx="265176" cy="265176"/>
          </a:xfrm>
          <a:prstGeom prst="ellipse">
            <a:avLst/>
          </a:prstGeom>
          <a:solidFill>
            <a:srgbClr val="1F3864"/>
          </a:solidFill>
          <a:ln/>
        </p:spPr>
      </p:sp>
      <p:sp>
        <p:nvSpPr>
          <p:cNvPr id="12" name="Text 7"/>
          <p:cNvSpPr txBox="1"/>
          <p:nvPr/>
        </p:nvSpPr>
        <p:spPr>
          <a:xfrm>
            <a:off x="9006840" y="2953512"/>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8"/>
          <p:cNvSpPr txBox="1"/>
          <p:nvPr/>
        </p:nvSpPr>
        <p:spPr>
          <a:xfrm>
            <a:off x="9372600" y="2889504"/>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Más de la mitad son viviendas turísticas</a:t>
            </a:r>
            <a:endParaRPr lang="en-US" sz="1150" dirty="0"/>
          </a:p>
        </p:txBody>
      </p:sp>
      <p:sp>
        <p:nvSpPr>
          <p:cNvPr id="14" name="Text 9"/>
          <p:cNvSpPr txBox="1"/>
          <p:nvPr/>
        </p:nvSpPr>
        <p:spPr>
          <a:xfrm>
            <a:off x="9372600" y="3401568"/>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4.226 de 7.709 (54,8 %), seguidas de agencias de viajes (1.692) y alojamiento turístico (1.057).</a:t>
            </a:r>
            <a:endParaRPr lang="en-US" sz="1050" dirty="0"/>
          </a:p>
        </p:txBody>
      </p:sp>
      <p:sp>
        <p:nvSpPr>
          <p:cNvPr id="15" name="Shape 10"/>
          <p:cNvSpPr/>
          <p:nvPr/>
        </p:nvSpPr>
        <p:spPr>
          <a:xfrm>
            <a:off x="9006840" y="4581144"/>
            <a:ext cx="265176" cy="265176"/>
          </a:xfrm>
          <a:prstGeom prst="ellipse">
            <a:avLst/>
          </a:prstGeom>
          <a:solidFill>
            <a:srgbClr val="1F3864"/>
          </a:solidFill>
          <a:ln/>
        </p:spPr>
      </p:sp>
      <p:sp>
        <p:nvSpPr>
          <p:cNvPr id="16" name="Text 11"/>
          <p:cNvSpPr txBox="1"/>
          <p:nvPr/>
        </p:nvSpPr>
        <p:spPr>
          <a:xfrm>
            <a:off x="9006840" y="4581144"/>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2"/>
          <p:cNvSpPr txBox="1"/>
          <p:nvPr/>
        </p:nvSpPr>
        <p:spPr>
          <a:xfrm>
            <a:off x="9372600" y="4517136"/>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El RNT se renueva cada año</a:t>
            </a:r>
            <a:endParaRPr lang="en-US" sz="1150" dirty="0"/>
          </a:p>
        </p:txBody>
      </p:sp>
      <p:sp>
        <p:nvSpPr>
          <p:cNvPr id="18" name="Text 13"/>
          <p:cNvSpPr txBox="1"/>
          <p:nvPr/>
        </p:nvSpPr>
        <p:spPr>
          <a:xfrm>
            <a:off x="9372600" y="5029200"/>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«Vigente» significa corte 2026. Los 16.307 códigos históricos incluyen registros caducados y no representan oferta activa.</a:t>
            </a:r>
            <a:endParaRPr lang="en-US" sz="1050" dirty="0"/>
          </a:p>
        </p:txBody>
      </p:sp>
      <p:sp>
        <p:nvSpPr>
          <p:cNvPr id="19" name="Text 14"/>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Registro Nacional de Turismo · Valle del Cauca · corte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9E9"/>
        </a:solidFill>
        <a:effectLst/>
      </p:bgPr>
    </p:bg>
    <p:spTree>
      <p:nvGrpSpPr>
        <p:cNvPr id="1" name=""/>
        <p:cNvGrpSpPr/>
        <p:nvPr/>
      </p:nvGrpSpPr>
      <p:grpSpPr>
        <a:xfrm>
          <a:off x="0" y="0"/>
          <a:ext cx="0" cy="0"/>
          <a:chOff x="0" y="0"/>
          <a:chExt cx="0" cy="0"/>
        </a:xfrm>
      </p:grpSpPr>
      <p:pic>
        <p:nvPicPr>
          <p:cNvPr id="2" name="Image 0" descr="franja_agua.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Negocios turísticos afectados por municipio</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1.839 establecimientos de alojamiento, comida y transporte reportaron daño</a:t>
            </a:r>
            <a:endParaRPr lang="en-US" sz="1250" dirty="0"/>
          </a:p>
        </p:txBody>
      </p:sp>
      <p:pic>
        <p:nvPicPr>
          <p:cNvPr id="6" name="Image 2" descr="mt1_afectados.png"/>
          <p:cNvPicPr>
            <a:picLocks noChangeAspect="1"/>
          </p:cNvPicPr>
          <p:nvPr/>
        </p:nvPicPr>
        <p:blipFill>
          <a:blip r:embed="rId5"/>
          <a:stretch>
            <a:fillRect/>
          </a:stretch>
        </p:blipFill>
        <p:spPr>
          <a:xfrm>
            <a:off x="3692348" y="1261872"/>
            <a:ext cx="4731104" cy="4983480"/>
          </a:xfrm>
          <a:prstGeom prst="rect">
            <a:avLst/>
          </a:prstGeom>
        </p:spPr>
      </p:pic>
      <p:sp>
        <p:nvSpPr>
          <p:cNvPr id="7" name="Shape 2"/>
          <p:cNvSpPr/>
          <p:nvPr/>
        </p:nvSpPr>
        <p:spPr>
          <a:xfrm>
            <a:off x="9006840" y="1325880"/>
            <a:ext cx="265176" cy="265176"/>
          </a:xfrm>
          <a:prstGeom prst="ellipse">
            <a:avLst/>
          </a:prstGeom>
          <a:solidFill>
            <a:srgbClr val="B3261E"/>
          </a:solidFill>
          <a:ln/>
        </p:spPr>
      </p:sp>
      <p:sp>
        <p:nvSpPr>
          <p:cNvPr id="8" name="Text 3"/>
          <p:cNvSpPr txBox="1"/>
          <p:nvPr/>
        </p:nvSpPr>
        <p:spPr>
          <a:xfrm>
            <a:off x="9006840" y="1325880"/>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4"/>
          <p:cNvSpPr txBox="1"/>
          <p:nvPr/>
        </p:nvSpPr>
        <p:spPr>
          <a:xfrm>
            <a:off x="9372600" y="1261872"/>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Cali, Buenaventura y Roldanillo concentran el volumen</a:t>
            </a:r>
            <a:endParaRPr lang="en-US" sz="1150" dirty="0"/>
          </a:p>
        </p:txBody>
      </p:sp>
      <p:sp>
        <p:nvSpPr>
          <p:cNvPr id="10" name="Text 5"/>
          <p:cNvSpPr txBox="1"/>
          <p:nvPr/>
        </p:nvSpPr>
        <p:spPr>
          <a:xfrm>
            <a:off x="9372600" y="1773936"/>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738, 143 y 119 reportes: entre los tres suman el 54,4 % del total departamental.</a:t>
            </a:r>
            <a:endParaRPr lang="en-US" sz="1050" dirty="0"/>
          </a:p>
        </p:txBody>
      </p:sp>
      <p:sp>
        <p:nvSpPr>
          <p:cNvPr id="11" name="Shape 6"/>
          <p:cNvSpPr/>
          <p:nvPr/>
        </p:nvSpPr>
        <p:spPr>
          <a:xfrm>
            <a:off x="9006840" y="2953512"/>
            <a:ext cx="265176" cy="265176"/>
          </a:xfrm>
          <a:prstGeom prst="ellipse">
            <a:avLst/>
          </a:prstGeom>
          <a:solidFill>
            <a:srgbClr val="1F3864"/>
          </a:solidFill>
          <a:ln/>
        </p:spPr>
      </p:sp>
      <p:sp>
        <p:nvSpPr>
          <p:cNvPr id="12" name="Text 7"/>
          <p:cNvSpPr txBox="1"/>
          <p:nvPr/>
        </p:nvSpPr>
        <p:spPr>
          <a:xfrm>
            <a:off x="9006840" y="2953512"/>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8"/>
          <p:cNvSpPr txBox="1"/>
          <p:nvPr/>
        </p:nvSpPr>
        <p:spPr>
          <a:xfrm>
            <a:off x="9372600" y="2889504"/>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El norte aparece completo</a:t>
            </a:r>
            <a:endParaRPr lang="en-US" sz="1150" dirty="0"/>
          </a:p>
        </p:txBody>
      </p:sp>
      <p:sp>
        <p:nvSpPr>
          <p:cNvPr id="14" name="Text 9"/>
          <p:cNvSpPr txBox="1"/>
          <p:nvPr/>
        </p:nvSpPr>
        <p:spPr>
          <a:xfrm>
            <a:off x="9372600" y="3401568"/>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Cartago, Sevilla, Alcalá, Caicedonia, La Unión, Zarzal, Versalles y Ansermanuevo forman un bloque continuo de veinte o más reportes cada uno.</a:t>
            </a:r>
            <a:endParaRPr lang="en-US" sz="1050" dirty="0"/>
          </a:p>
        </p:txBody>
      </p:sp>
      <p:sp>
        <p:nvSpPr>
          <p:cNvPr id="15" name="Shape 10"/>
          <p:cNvSpPr/>
          <p:nvPr/>
        </p:nvSpPr>
        <p:spPr>
          <a:xfrm>
            <a:off x="9006840" y="4581144"/>
            <a:ext cx="265176" cy="265176"/>
          </a:xfrm>
          <a:prstGeom prst="ellipse">
            <a:avLst/>
          </a:prstGeom>
          <a:solidFill>
            <a:srgbClr val="1F3864"/>
          </a:solidFill>
          <a:ln/>
        </p:spPr>
      </p:sp>
      <p:sp>
        <p:nvSpPr>
          <p:cNvPr id="16" name="Text 11"/>
          <p:cNvSpPr txBox="1"/>
          <p:nvPr/>
        </p:nvSpPr>
        <p:spPr>
          <a:xfrm>
            <a:off x="9006840" y="4581144"/>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2"/>
          <p:cNvSpPr txBox="1"/>
          <p:nvPr/>
        </p:nvSpPr>
        <p:spPr>
          <a:xfrm>
            <a:off x="9372600" y="4517136"/>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El sur casi no reporta</a:t>
            </a:r>
            <a:endParaRPr lang="en-US" sz="1150" dirty="0"/>
          </a:p>
        </p:txBody>
      </p:sp>
      <p:sp>
        <p:nvSpPr>
          <p:cNvPr id="18" name="Text 13"/>
          <p:cNvSpPr txBox="1"/>
          <p:nvPr/>
        </p:nvSpPr>
        <p:spPr>
          <a:xfrm>
            <a:off x="9372600" y="5029200"/>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Florida (1), Candelaria (1) y Pradera (2) suman 4 reportes turísticos entre los tres.</a:t>
            </a:r>
            <a:endParaRPr lang="en-US" sz="1050" dirty="0"/>
          </a:p>
        </p:txBody>
      </p:sp>
      <p:sp>
        <p:nvSpPr>
          <p:cNvPr id="19" name="Text 14"/>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Cada municipio muestra su nombre y su número de reportes. Geometría: DANE.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9E9"/>
        </a:solidFill>
        <a:effectLst/>
      </p:bgPr>
    </p:bg>
    <p:spTree>
      <p:nvGrpSpPr>
        <p:cNvPr id="1" name=""/>
        <p:cNvGrpSpPr/>
        <p:nvPr/>
      </p:nvGrpSpPr>
      <p:grpSpPr>
        <a:xfrm>
          <a:off x="0" y="0"/>
          <a:ext cx="0" cy="0"/>
          <a:chOff x="0" y="0"/>
          <a:chExt cx="0" cy="0"/>
        </a:xfrm>
      </p:grpSpPr>
      <p:pic>
        <p:nvPicPr>
          <p:cNvPr id="2" name="Image 0" descr="franja_sombrero.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Los quince municipios con más negocios afectados, sin Cali</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Cali aparte con 738 reportes y 64,4 % en nivel crítico o grave</a:t>
            </a:r>
            <a:endParaRPr lang="en-US" sz="1250" dirty="0"/>
          </a:p>
        </p:txBody>
      </p:sp>
      <p:pic>
        <p:nvPicPr>
          <p:cNvPr id="6" name="Image 2" descr="t1_severidad.png"/>
          <p:cNvPicPr>
            <a:picLocks noChangeAspect="1"/>
          </p:cNvPicPr>
          <p:nvPr/>
        </p:nvPicPr>
        <p:blipFill>
          <a:blip r:embed="rId5"/>
          <a:stretch>
            <a:fillRect/>
          </a:stretch>
        </p:blipFill>
        <p:spPr>
          <a:xfrm>
            <a:off x="3500687" y="1325880"/>
            <a:ext cx="8086226" cy="4709160"/>
          </a:xfrm>
          <a:prstGeom prst="rect">
            <a:avLst/>
          </a:prstGeom>
        </p:spPr>
      </p:pic>
      <p:sp>
        <p:nvSpPr>
          <p:cNvPr id="7" name="Text 2"/>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Nivel de afectación declarado por el establecimiento en el censo. 19 de los 1.839 reportes turísticos declaran no haber sufrido afectación y se muestran aparte en la barra.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9E9"/>
        </a:solidFill>
        <a:effectLst/>
      </p:bgPr>
    </p:bg>
    <p:spTree>
      <p:nvGrpSpPr>
        <p:cNvPr id="1" name=""/>
        <p:cNvGrpSpPr/>
        <p:nvPr/>
      </p:nvGrpSpPr>
      <p:grpSpPr>
        <a:xfrm>
          <a:off x="0" y="0"/>
          <a:ext cx="0" cy="0"/>
          <a:chOff x="0" y="0"/>
          <a:chExt cx="0" cy="0"/>
        </a:xfrm>
      </p:grpSpPr>
      <p:pic>
        <p:nvPicPr>
          <p:cNvPr id="2" name="Image 0" descr="franja_mujer.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Peso del daño frente al tamaño de la oferta formal</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Reportes turísticos por cada 100 prestadores con RNT vigente en el municipio</a:t>
            </a:r>
            <a:endParaRPr lang="en-US" sz="1250" dirty="0"/>
          </a:p>
        </p:txBody>
      </p:sp>
      <p:pic>
        <p:nvPicPr>
          <p:cNvPr id="6" name="Image 2" descr="mt2_intensidad.png"/>
          <p:cNvPicPr>
            <a:picLocks noChangeAspect="1"/>
          </p:cNvPicPr>
          <p:nvPr/>
        </p:nvPicPr>
        <p:blipFill>
          <a:blip r:embed="rId5"/>
          <a:stretch>
            <a:fillRect/>
          </a:stretch>
        </p:blipFill>
        <p:spPr>
          <a:xfrm>
            <a:off x="3692348" y="1261872"/>
            <a:ext cx="4731104" cy="4983480"/>
          </a:xfrm>
          <a:prstGeom prst="rect">
            <a:avLst/>
          </a:prstGeom>
        </p:spPr>
      </p:pic>
      <p:sp>
        <p:nvSpPr>
          <p:cNvPr id="7" name="Shape 2"/>
          <p:cNvSpPr/>
          <p:nvPr/>
        </p:nvSpPr>
        <p:spPr>
          <a:xfrm>
            <a:off x="9006840" y="1325880"/>
            <a:ext cx="265176" cy="265176"/>
          </a:xfrm>
          <a:prstGeom prst="ellipse">
            <a:avLst/>
          </a:prstGeom>
          <a:solidFill>
            <a:srgbClr val="6D28A8"/>
          </a:solidFill>
          <a:ln/>
        </p:spPr>
      </p:sp>
      <p:sp>
        <p:nvSpPr>
          <p:cNvPr id="8" name="Text 3"/>
          <p:cNvSpPr txBox="1"/>
          <p:nvPr/>
        </p:nvSpPr>
        <p:spPr>
          <a:xfrm>
            <a:off x="9006840" y="1325880"/>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4"/>
          <p:cNvSpPr txBox="1"/>
          <p:nvPr/>
        </p:nvSpPr>
        <p:spPr>
          <a:xfrm>
            <a:off x="9372600" y="1261872"/>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El corredor norte concentra la intensidad</a:t>
            </a:r>
            <a:endParaRPr lang="en-US" sz="1150" dirty="0"/>
          </a:p>
        </p:txBody>
      </p:sp>
      <p:sp>
        <p:nvSpPr>
          <p:cNvPr id="10" name="Text 5"/>
          <p:cNvSpPr txBox="1"/>
          <p:nvPr/>
        </p:nvSpPr>
        <p:spPr>
          <a:xfrm>
            <a:off x="9372600" y="1773936"/>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El Dovio (400), El Águila (300), El Cairo (357), Argelia (300) y Versalles (200) reportan mucho más daño del que su registro formal haría esperar.</a:t>
            </a:r>
            <a:endParaRPr lang="en-US" sz="1050" dirty="0"/>
          </a:p>
        </p:txBody>
      </p:sp>
      <p:sp>
        <p:nvSpPr>
          <p:cNvPr id="11" name="Shape 6"/>
          <p:cNvSpPr/>
          <p:nvPr/>
        </p:nvSpPr>
        <p:spPr>
          <a:xfrm>
            <a:off x="9006840" y="2953512"/>
            <a:ext cx="265176" cy="265176"/>
          </a:xfrm>
          <a:prstGeom prst="ellipse">
            <a:avLst/>
          </a:prstGeom>
          <a:solidFill>
            <a:srgbClr val="1F3864"/>
          </a:solidFill>
          <a:ln/>
        </p:spPr>
      </p:sp>
      <p:sp>
        <p:nvSpPr>
          <p:cNvPr id="12" name="Text 7"/>
          <p:cNvSpPr txBox="1"/>
          <p:nvPr/>
        </p:nvSpPr>
        <p:spPr>
          <a:xfrm>
            <a:off x="9006840" y="2953512"/>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8"/>
          <p:cNvSpPr txBox="1"/>
          <p:nvPr/>
        </p:nvSpPr>
        <p:spPr>
          <a:xfrm>
            <a:off x="9372600" y="2889504"/>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Cali y Palmira están en el extremo opuesto</a:t>
            </a:r>
            <a:endParaRPr lang="en-US" sz="1150" dirty="0"/>
          </a:p>
        </p:txBody>
      </p:sp>
      <p:sp>
        <p:nvSpPr>
          <p:cNvPr id="14" name="Text 9"/>
          <p:cNvSpPr txBox="1"/>
          <p:nvPr/>
        </p:nvSpPr>
        <p:spPr>
          <a:xfrm>
            <a:off x="9372600" y="3401568"/>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16 y 5 reportes por cada 100 inscritos, frente a 23,9 del departamento. Concentran la oferta, no la intensidad del daño.</a:t>
            </a:r>
            <a:endParaRPr lang="en-US" sz="1050" dirty="0"/>
          </a:p>
        </p:txBody>
      </p:sp>
      <p:sp>
        <p:nvSpPr>
          <p:cNvPr id="15" name="Shape 10"/>
          <p:cNvSpPr/>
          <p:nvPr/>
        </p:nvSpPr>
        <p:spPr>
          <a:xfrm>
            <a:off x="9006840" y="4581144"/>
            <a:ext cx="265176" cy="265176"/>
          </a:xfrm>
          <a:prstGeom prst="ellipse">
            <a:avLst/>
          </a:prstGeom>
          <a:solidFill>
            <a:srgbClr val="1F3864"/>
          </a:solidFill>
          <a:ln/>
        </p:spPr>
      </p:sp>
      <p:sp>
        <p:nvSpPr>
          <p:cNvPr id="16" name="Text 11"/>
          <p:cNvSpPr txBox="1"/>
          <p:nvPr/>
        </p:nvSpPr>
        <p:spPr>
          <a:xfrm>
            <a:off x="9006840" y="4581144"/>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2"/>
          <p:cNvSpPr txBox="1"/>
          <p:nvPr/>
        </p:nvSpPr>
        <p:spPr>
          <a:xfrm>
            <a:off x="9372600" y="4517136"/>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No es el porcentaje del RNT afectado</a:t>
            </a:r>
            <a:endParaRPr lang="en-US" sz="1150" dirty="0"/>
          </a:p>
        </p:txBody>
      </p:sp>
      <p:sp>
        <p:nvSpPr>
          <p:cNvPr id="18" name="Text 13"/>
          <p:cNvSpPr txBox="1"/>
          <p:nvPr/>
        </p:nvSpPr>
        <p:spPr>
          <a:xfrm>
            <a:off x="9372600" y="5029200"/>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El censo incluye negocios sin RNT y el registro incluye viviendas turísticas que casi nunca reportan. El indicador compara municipios entre sí, no mide una tasa.</a:t>
            </a:r>
            <a:endParaRPr lang="en-US" sz="1050" dirty="0"/>
          </a:p>
        </p:txBody>
      </p:sp>
      <p:sp>
        <p:nvSpPr>
          <p:cNvPr id="19" name="Text 14"/>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Censo de afectación (3 sep) y RNT vigente 2026, agregados por municipio.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9E9"/>
        </a:solidFill>
        <a:effectLst/>
      </p:bgPr>
    </p:bg>
    <p:spTree>
      <p:nvGrpSpPr>
        <p:cNvPr id="1" name=""/>
        <p:cNvGrpSpPr/>
        <p:nvPr/>
      </p:nvGrpSpPr>
      <p:grpSpPr>
        <a:xfrm>
          <a:off x="0" y="0"/>
          <a:ext cx="0" cy="0"/>
          <a:chOff x="0" y="0"/>
          <a:chExt cx="0" cy="0"/>
        </a:xfrm>
      </p:grpSpPr>
      <p:pic>
        <p:nvPicPr>
          <p:cNvPr id="2" name="Image 0" descr="franja_agua.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Severidad declarada por el sector turístico</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62,8 % departamental en nivel crítico o grave, frente a 55,6 % de toda la economía</a:t>
            </a:r>
            <a:endParaRPr lang="en-US" sz="1250" dirty="0"/>
          </a:p>
        </p:txBody>
      </p:sp>
      <p:pic>
        <p:nvPicPr>
          <p:cNvPr id="6" name="Image 2" descr="mt3_severidad.png"/>
          <p:cNvPicPr>
            <a:picLocks noChangeAspect="1"/>
          </p:cNvPicPr>
          <p:nvPr/>
        </p:nvPicPr>
        <p:blipFill>
          <a:blip r:embed="rId5"/>
          <a:stretch>
            <a:fillRect/>
          </a:stretch>
        </p:blipFill>
        <p:spPr>
          <a:xfrm>
            <a:off x="3692348" y="1261872"/>
            <a:ext cx="4731104" cy="4983480"/>
          </a:xfrm>
          <a:prstGeom prst="rect">
            <a:avLst/>
          </a:prstGeom>
        </p:spPr>
      </p:pic>
      <p:sp>
        <p:nvSpPr>
          <p:cNvPr id="7" name="Shape 2"/>
          <p:cNvSpPr/>
          <p:nvPr/>
        </p:nvSpPr>
        <p:spPr>
          <a:xfrm>
            <a:off x="9006840" y="1325880"/>
            <a:ext cx="265176" cy="265176"/>
          </a:xfrm>
          <a:prstGeom prst="ellipse">
            <a:avLst/>
          </a:prstGeom>
          <a:solidFill>
            <a:srgbClr val="C2410C"/>
          </a:solidFill>
          <a:ln/>
        </p:spPr>
      </p:sp>
      <p:sp>
        <p:nvSpPr>
          <p:cNvPr id="8" name="Text 3"/>
          <p:cNvSpPr txBox="1"/>
          <p:nvPr/>
        </p:nvSpPr>
        <p:spPr>
          <a:xfrm>
            <a:off x="9006840" y="1325880"/>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4"/>
          <p:cNvSpPr txBox="1"/>
          <p:nvPr/>
        </p:nvSpPr>
        <p:spPr>
          <a:xfrm>
            <a:off x="9372600" y="1261872"/>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El norte alto es el más severo</a:t>
            </a:r>
            <a:endParaRPr lang="en-US" sz="1150" dirty="0"/>
          </a:p>
        </p:txBody>
      </p:sp>
      <p:sp>
        <p:nvSpPr>
          <p:cNvPr id="10" name="Text 5"/>
          <p:cNvSpPr txBox="1"/>
          <p:nvPr/>
        </p:nvSpPr>
        <p:spPr>
          <a:xfrm>
            <a:off x="9372600" y="1773936"/>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Con al menos quince reportes, encabezan Caicedonia (82 %), Sevilla (77 %), Argelia (76 %), El Cairo (76 %). Todos por encima del 62,8 % departamental.</a:t>
            </a:r>
            <a:endParaRPr lang="en-US" sz="1050" dirty="0"/>
          </a:p>
        </p:txBody>
      </p:sp>
      <p:sp>
        <p:nvSpPr>
          <p:cNvPr id="11" name="Shape 6"/>
          <p:cNvSpPr/>
          <p:nvPr/>
        </p:nvSpPr>
        <p:spPr>
          <a:xfrm>
            <a:off x="9006840" y="2953512"/>
            <a:ext cx="265176" cy="265176"/>
          </a:xfrm>
          <a:prstGeom prst="ellipse">
            <a:avLst/>
          </a:prstGeom>
          <a:solidFill>
            <a:srgbClr val="1F3864"/>
          </a:solidFill>
          <a:ln/>
        </p:spPr>
      </p:sp>
      <p:sp>
        <p:nvSpPr>
          <p:cNvPr id="12" name="Text 7"/>
          <p:cNvSpPr txBox="1"/>
          <p:nvPr/>
        </p:nvSpPr>
        <p:spPr>
          <a:xfrm>
            <a:off x="9006840" y="2953512"/>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8"/>
          <p:cNvSpPr txBox="1"/>
          <p:nvPr/>
        </p:nvSpPr>
        <p:spPr>
          <a:xfrm>
            <a:off x="9372600" y="2889504"/>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Buenaventura combina volumen e intensidad</a:t>
            </a:r>
            <a:endParaRPr lang="en-US" sz="1150" dirty="0"/>
          </a:p>
        </p:txBody>
      </p:sp>
      <p:sp>
        <p:nvSpPr>
          <p:cNvPr id="14" name="Text 9"/>
          <p:cNvSpPr txBox="1"/>
          <p:nvPr/>
        </p:nvSpPr>
        <p:spPr>
          <a:xfrm>
            <a:off x="9372600" y="3401568"/>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143 reportes con 70 % en nivel crítico o grave: es el único municipio que está arriba en las dos lecturas.</a:t>
            </a:r>
            <a:endParaRPr lang="en-US" sz="1050" dirty="0"/>
          </a:p>
        </p:txBody>
      </p:sp>
      <p:sp>
        <p:nvSpPr>
          <p:cNvPr id="15" name="Shape 10"/>
          <p:cNvSpPr/>
          <p:nvPr/>
        </p:nvSpPr>
        <p:spPr>
          <a:xfrm>
            <a:off x="9006840" y="4581144"/>
            <a:ext cx="265176" cy="265176"/>
          </a:xfrm>
          <a:prstGeom prst="ellipse">
            <a:avLst/>
          </a:prstGeom>
          <a:solidFill>
            <a:srgbClr val="1F3864"/>
          </a:solidFill>
          <a:ln/>
        </p:spPr>
      </p:sp>
      <p:sp>
        <p:nvSpPr>
          <p:cNvPr id="16" name="Text 11"/>
          <p:cNvSpPr txBox="1"/>
          <p:nvPr/>
        </p:nvSpPr>
        <p:spPr>
          <a:xfrm>
            <a:off x="9006840" y="4581144"/>
            <a:ext cx="265176" cy="2651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2"/>
          <p:cNvSpPr txBox="1"/>
          <p:nvPr/>
        </p:nvSpPr>
        <p:spPr>
          <a:xfrm>
            <a:off x="9372600" y="4517136"/>
            <a:ext cx="2377440" cy="475488"/>
          </a:xfrm>
          <a:prstGeom prst="rect">
            <a:avLst/>
          </a:prstGeom>
          <a:noFill/>
          <a:ln/>
        </p:spPr>
        <p:txBody>
          <a:bodyPr wrap="square" lIns="0" tIns="0" rIns="0" bIns="0" rtlCol="0" anchor="t"/>
          <a:lstStyle/>
          <a:p>
            <a:pPr marL="0" indent="0">
              <a:lnSpc>
                <a:spcPts val="1400"/>
              </a:lnSpc>
              <a:buNone/>
            </a:pPr>
            <a:r>
              <a:rPr lang="en-US" sz="1150" b="1" dirty="0">
                <a:solidFill>
                  <a:srgbClr val="1F3864"/>
                </a:solidFill>
                <a:latin typeface="Calibri" pitchFamily="34" charset="0"/>
                <a:ea typeface="Calibri" pitchFamily="34" charset="-122"/>
                <a:cs typeface="Calibri" pitchFamily="34" charset="-120"/>
              </a:rPr>
              <a:t>Cuidado con los municipios de pocos reportes</a:t>
            </a:r>
            <a:endParaRPr lang="en-US" sz="1150" dirty="0"/>
          </a:p>
        </p:txBody>
      </p:sp>
      <p:sp>
        <p:nvSpPr>
          <p:cNvPr id="18" name="Text 13"/>
          <p:cNvSpPr txBox="1"/>
          <p:nvPr/>
        </p:nvSpPr>
        <p:spPr>
          <a:xfrm>
            <a:off x="9372600" y="5029200"/>
            <a:ext cx="2377440" cy="1143000"/>
          </a:xfrm>
          <a:prstGeom prst="rect">
            <a:avLst/>
          </a:prstGeom>
          <a:noFill/>
          <a:ln/>
        </p:spPr>
        <p:txBody>
          <a:bodyPr wrap="square" lIns="0" tIns="0" rIns="0" bIns="0" rtlCol="0" anchor="t"/>
          <a:lstStyle/>
          <a:p>
            <a:pPr marL="0" indent="0">
              <a:lnSpc>
                <a:spcPts val="1400"/>
              </a:lnSpc>
              <a:buNone/>
            </a:pPr>
            <a:r>
              <a:rPr lang="en-US" sz="1050" dirty="0">
                <a:solidFill>
                  <a:srgbClr val="3A3A3A"/>
                </a:solidFill>
                <a:latin typeface="Calibri" pitchFamily="34" charset="0"/>
                <a:ea typeface="Calibri" pitchFamily="34" charset="-122"/>
                <a:cs typeface="Calibri" pitchFamily="34" charset="-120"/>
              </a:rPr>
              <a:t>El Cerrito marca 100 % sobre 5 reportes y Candelaria 0 % sobre 1. En esos casos el porcentaje describe un puñado de casos, no al municipio.</a:t>
            </a:r>
            <a:endParaRPr lang="en-US" sz="1050" dirty="0"/>
          </a:p>
        </p:txBody>
      </p:sp>
      <p:sp>
        <p:nvSpPr>
          <p:cNvPr id="19" name="Text 14"/>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Porcentaje calculado sobre los reportes turísticos de cada municipio.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9E9"/>
        </a:solidFill>
        <a:effectLst/>
      </p:bgPr>
    </p:bg>
    <p:spTree>
      <p:nvGrpSpPr>
        <p:cNvPr id="1" name=""/>
        <p:cNvGrpSpPr/>
        <p:nvPr/>
      </p:nvGrpSpPr>
      <p:grpSpPr>
        <a:xfrm>
          <a:off x="0" y="0"/>
          <a:ext cx="0" cy="0"/>
          <a:chOff x="0" y="0"/>
          <a:chExt cx="0" cy="0"/>
        </a:xfrm>
      </p:grpSpPr>
      <p:pic>
        <p:nvPicPr>
          <p:cNvPr id="2" name="Image 0" descr="franja_sombrero.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Empleo comprometido y pérdidas declaradas</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1.161 negocios con empleo comprometido · 81,0 % de los 1.434 que responden la pregunta · 63,1 % de los 1.839 afectados</a:t>
            </a:r>
            <a:endParaRPr lang="en-US" sz="1250" dirty="0"/>
          </a:p>
        </p:txBody>
      </p:sp>
      <p:pic>
        <p:nvPicPr>
          <p:cNvPr id="6" name="Image 2" descr="t3_empleo_perdidas.png"/>
          <p:cNvPicPr>
            <a:picLocks noChangeAspect="1"/>
          </p:cNvPicPr>
          <p:nvPr/>
        </p:nvPicPr>
        <p:blipFill>
          <a:blip r:embed="rId5"/>
          <a:stretch>
            <a:fillRect/>
          </a:stretch>
        </p:blipFill>
        <p:spPr>
          <a:xfrm>
            <a:off x="3581224" y="1298448"/>
            <a:ext cx="7925152" cy="4114800"/>
          </a:xfrm>
          <a:prstGeom prst="rect">
            <a:avLst/>
          </a:prstGeom>
        </p:spPr>
      </p:pic>
      <p:sp>
        <p:nvSpPr>
          <p:cNvPr id="7" name="Text 2"/>
          <p:cNvSpPr txBox="1"/>
          <p:nvPr/>
        </p:nvSpPr>
        <p:spPr>
          <a:xfrm>
            <a:off x="3337560" y="5504688"/>
            <a:ext cx="8412480" cy="713232"/>
          </a:xfrm>
          <a:prstGeom prst="rect">
            <a:avLst/>
          </a:prstGeom>
          <a:noFill/>
          <a:ln/>
        </p:spPr>
        <p:txBody>
          <a:bodyPr wrap="square" lIns="0" tIns="0" rIns="0" bIns="0" rtlCol="0" anchor="ctr"/>
          <a:lstStyle/>
          <a:p>
            <a:pPr marL="0" indent="0">
              <a:lnSpc>
                <a:spcPts val="1700"/>
              </a:lnSpc>
              <a:buNone/>
            </a:pPr>
            <a:r>
              <a:rPr lang="en-US" sz="1200" b="1" dirty="0">
                <a:solidFill>
                  <a:srgbClr val="1A1A1A"/>
                </a:solidFill>
                <a:latin typeface="Calibri" pitchFamily="34" charset="0"/>
                <a:ea typeface="Calibri" pitchFamily="34" charset="-122"/>
                <a:cs typeface="Calibri" pitchFamily="34" charset="-120"/>
              </a:rPr>
              <a:t>El empleo en riesgo está pulverizado. </a:t>
            </a:r>
            <a:r>
              <a:rPr lang="en-US" sz="1200" dirty="0">
                <a:solidFill>
                  <a:srgbClr val="1A1A1A"/>
                </a:solidFill>
                <a:latin typeface="Calibri" pitchFamily="34" charset="0"/>
                <a:ea typeface="Calibri" pitchFamily="34" charset="-122"/>
                <a:cs typeface="Calibri" pitchFamily="34" charset="-120"/>
              </a:rPr>
              <a:t>80,8 % de esos negocios reporta entre uno y cinco puestos, y solo 37 en todo el departamento reportan más de veinte. Son muchísimos establecimientos con pocos empleos cada uno, no unas pocas empresas grandes: eso define el tamaño del subsidio y el número de operaciones, no el monto total.</a:t>
            </a:r>
            <a:endParaRPr lang="en-US" sz="1200" dirty="0"/>
          </a:p>
        </p:txBody>
      </p:sp>
      <p:sp>
        <p:nvSpPr>
          <p:cNvPr id="8" name="Text 3"/>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Los tramos cuentan negocios, no empleos: la encuesta pregunta por rangos. 405 de los 1.839 negocios turísticos dejaron esta pregunta en blanco y quedan fuera del porcentaje sobre quienes responden.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9E9"/>
        </a:solidFill>
        <a:effectLst/>
      </p:bgPr>
    </p:bg>
    <p:spTree>
      <p:nvGrpSpPr>
        <p:cNvPr id="1" name=""/>
        <p:cNvGrpSpPr/>
        <p:nvPr/>
      </p:nvGrpSpPr>
      <p:grpSpPr>
        <a:xfrm>
          <a:off x="0" y="0"/>
          <a:ext cx="0" cy="0"/>
          <a:chOff x="0" y="0"/>
          <a:chExt cx="0" cy="0"/>
        </a:xfrm>
      </p:grpSpPr>
      <p:pic>
        <p:nvPicPr>
          <p:cNvPr id="2" name="Image 0" descr="franja_mujer.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Continuidad del negocio en la cadena turística</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1.557 de los 1.839 negocios turísticos informan su estado de operación</a:t>
            </a:r>
            <a:endParaRPr lang="en-US" sz="1250" dirty="0"/>
          </a:p>
        </p:txBody>
      </p:sp>
      <p:pic>
        <p:nvPicPr>
          <p:cNvPr id="6" name="Image 2" descr="p1_continuidad.png"/>
          <p:cNvPicPr>
            <a:picLocks noChangeAspect="1"/>
          </p:cNvPicPr>
          <p:nvPr/>
        </p:nvPicPr>
        <p:blipFill>
          <a:blip r:embed="rId5"/>
          <a:stretch>
            <a:fillRect/>
          </a:stretch>
        </p:blipFill>
        <p:spPr>
          <a:xfrm>
            <a:off x="4664566" y="1325880"/>
            <a:ext cx="5758469" cy="1874520"/>
          </a:xfrm>
          <a:prstGeom prst="rect">
            <a:avLst/>
          </a:prstGeom>
        </p:spPr>
      </p:pic>
      <p:sp>
        <p:nvSpPr>
          <p:cNvPr id="7" name="Shape 2"/>
          <p:cNvSpPr/>
          <p:nvPr/>
        </p:nvSpPr>
        <p:spPr>
          <a:xfrm>
            <a:off x="3337560" y="3456432"/>
            <a:ext cx="2651760" cy="1371600"/>
          </a:xfrm>
          <a:prstGeom prst="roundRect">
            <a:avLst>
              <a:gd name="adj" fmla="val 4000"/>
            </a:avLst>
          </a:prstGeom>
          <a:solidFill>
            <a:srgbClr val="FFFFFF"/>
          </a:solidFill>
          <a:ln w="12700">
            <a:solidFill>
              <a:srgbClr val="E6DFCB"/>
            </a:solidFill>
            <a:prstDash val="solid"/>
          </a:ln>
          <a:effectLst>
            <a:outerShdw blurRad="76200" dist="12700" dir="5400000" algn="bl" rotWithShape="0">
              <a:srgbClr val="C9BFA5">
                <a:alpha val="30000"/>
              </a:srgbClr>
            </a:outerShdw>
          </a:effectLst>
        </p:spPr>
      </p:sp>
      <p:sp>
        <p:nvSpPr>
          <p:cNvPr id="8" name="Text 3"/>
          <p:cNvSpPr txBox="1"/>
          <p:nvPr/>
        </p:nvSpPr>
        <p:spPr>
          <a:xfrm>
            <a:off x="3483864" y="3584448"/>
            <a:ext cx="2359152" cy="630936"/>
          </a:xfrm>
          <a:prstGeom prst="rect">
            <a:avLst/>
          </a:prstGeom>
          <a:noFill/>
          <a:ln/>
        </p:spPr>
        <p:txBody>
          <a:bodyPr wrap="square" lIns="0" tIns="0" rIns="0" bIns="0" rtlCol="0" anchor="ctr"/>
          <a:lstStyle/>
          <a:p>
            <a:pPr marL="0" indent="0">
              <a:buNone/>
            </a:pPr>
            <a:r>
              <a:rPr lang="en-US" sz="3000" b="1" dirty="0">
                <a:solidFill>
                  <a:srgbClr val="2D6A4F"/>
                </a:solidFill>
                <a:latin typeface="Calibri" pitchFamily="34" charset="0"/>
                <a:ea typeface="Calibri" pitchFamily="34" charset="-122"/>
                <a:cs typeface="Calibri" pitchFamily="34" charset="-120"/>
              </a:rPr>
              <a:t>24,5 %</a:t>
            </a:r>
            <a:endParaRPr lang="en-US" sz="3000" dirty="0"/>
          </a:p>
        </p:txBody>
      </p:sp>
      <p:sp>
        <p:nvSpPr>
          <p:cNvPr id="9" name="Text 4"/>
          <p:cNvSpPr txBox="1"/>
          <p:nvPr/>
        </p:nvSpPr>
        <p:spPr>
          <a:xfrm>
            <a:off x="3483864" y="4142232"/>
            <a:ext cx="2359152" cy="384048"/>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Opera normalmente</a:t>
            </a:r>
            <a:endParaRPr lang="en-US" sz="1150" dirty="0"/>
          </a:p>
        </p:txBody>
      </p:sp>
      <p:sp>
        <p:nvSpPr>
          <p:cNvPr id="10" name="Text 5"/>
          <p:cNvSpPr txBox="1"/>
          <p:nvPr/>
        </p:nvSpPr>
        <p:spPr>
          <a:xfrm>
            <a:off x="3483864" y="4443984"/>
            <a:ext cx="2359152" cy="402336"/>
          </a:xfrm>
          <a:prstGeom prst="rect">
            <a:avLst/>
          </a:prstGeom>
          <a:noFill/>
          <a:ln/>
        </p:spPr>
        <p:txBody>
          <a:bodyPr wrap="square" lIns="0" tIns="0" rIns="0" bIns="0" rtlCol="0" anchor="ctr"/>
          <a:lstStyle/>
          <a:p>
            <a:pPr marL="0" indent="0">
              <a:buNone/>
            </a:pPr>
            <a:r>
              <a:rPr lang="en-US" sz="950" dirty="0">
                <a:solidFill>
                  <a:srgbClr val="5A5A5A"/>
                </a:solidFill>
                <a:latin typeface="Calibri" pitchFamily="34" charset="0"/>
                <a:ea typeface="Calibri" pitchFamily="34" charset="-122"/>
                <a:cs typeface="Calibri" pitchFamily="34" charset="-120"/>
              </a:rPr>
              <a:t>381 negocios</a:t>
            </a:r>
            <a:endParaRPr lang="en-US" sz="950" dirty="0"/>
          </a:p>
        </p:txBody>
      </p:sp>
      <p:sp>
        <p:nvSpPr>
          <p:cNvPr id="11" name="Shape 6"/>
          <p:cNvSpPr/>
          <p:nvPr/>
        </p:nvSpPr>
        <p:spPr>
          <a:xfrm>
            <a:off x="6217920" y="3456432"/>
            <a:ext cx="2651760" cy="1371600"/>
          </a:xfrm>
          <a:prstGeom prst="roundRect">
            <a:avLst>
              <a:gd name="adj" fmla="val 4000"/>
            </a:avLst>
          </a:prstGeom>
          <a:solidFill>
            <a:srgbClr val="FFFFFF"/>
          </a:solidFill>
          <a:ln w="12700">
            <a:solidFill>
              <a:srgbClr val="E6DFCB"/>
            </a:solidFill>
            <a:prstDash val="solid"/>
          </a:ln>
          <a:effectLst>
            <a:outerShdw blurRad="76200" dist="12700" dir="5400000" algn="bl" rotWithShape="0">
              <a:srgbClr val="C9BFA5">
                <a:alpha val="30000"/>
              </a:srgbClr>
            </a:outerShdw>
          </a:effectLst>
        </p:spPr>
      </p:sp>
      <p:sp>
        <p:nvSpPr>
          <p:cNvPr id="12" name="Text 7"/>
          <p:cNvSpPr txBox="1"/>
          <p:nvPr/>
        </p:nvSpPr>
        <p:spPr>
          <a:xfrm>
            <a:off x="6364224" y="3584448"/>
            <a:ext cx="2359152" cy="630936"/>
          </a:xfrm>
          <a:prstGeom prst="rect">
            <a:avLst/>
          </a:prstGeom>
          <a:noFill/>
          <a:ln/>
        </p:spPr>
        <p:txBody>
          <a:bodyPr wrap="square" lIns="0" tIns="0" rIns="0" bIns="0" rtlCol="0" anchor="ctr"/>
          <a:lstStyle/>
          <a:p>
            <a:pPr marL="0" indent="0">
              <a:buNone/>
            </a:pPr>
            <a:r>
              <a:rPr lang="en-US" sz="3000" b="1" dirty="0">
                <a:solidFill>
                  <a:srgbClr val="C2410C"/>
                </a:solidFill>
                <a:latin typeface="Calibri" pitchFamily="34" charset="0"/>
                <a:ea typeface="Calibri" pitchFamily="34" charset="-122"/>
                <a:cs typeface="Calibri" pitchFamily="34" charset="-120"/>
              </a:rPr>
              <a:t>40,1 %</a:t>
            </a:r>
            <a:endParaRPr lang="en-US" sz="3000" dirty="0"/>
          </a:p>
        </p:txBody>
      </p:sp>
      <p:sp>
        <p:nvSpPr>
          <p:cNvPr id="13" name="Text 8"/>
          <p:cNvSpPr txBox="1"/>
          <p:nvPr/>
        </p:nvSpPr>
        <p:spPr>
          <a:xfrm>
            <a:off x="6364224" y="4142232"/>
            <a:ext cx="2359152" cy="384048"/>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Opera parcialmente</a:t>
            </a:r>
            <a:endParaRPr lang="en-US" sz="1150" dirty="0"/>
          </a:p>
        </p:txBody>
      </p:sp>
      <p:sp>
        <p:nvSpPr>
          <p:cNvPr id="14" name="Text 9"/>
          <p:cNvSpPr txBox="1"/>
          <p:nvPr/>
        </p:nvSpPr>
        <p:spPr>
          <a:xfrm>
            <a:off x="6364224" y="4443984"/>
            <a:ext cx="2359152" cy="402336"/>
          </a:xfrm>
          <a:prstGeom prst="rect">
            <a:avLst/>
          </a:prstGeom>
          <a:noFill/>
          <a:ln/>
        </p:spPr>
        <p:txBody>
          <a:bodyPr wrap="square" lIns="0" tIns="0" rIns="0" bIns="0" rtlCol="0" anchor="ctr"/>
          <a:lstStyle/>
          <a:p>
            <a:pPr marL="0" indent="0">
              <a:buNone/>
            </a:pPr>
            <a:r>
              <a:rPr lang="en-US" sz="950" dirty="0">
                <a:solidFill>
                  <a:srgbClr val="5A5A5A"/>
                </a:solidFill>
                <a:latin typeface="Calibri" pitchFamily="34" charset="0"/>
                <a:ea typeface="Calibri" pitchFamily="34" charset="-122"/>
                <a:cs typeface="Calibri" pitchFamily="34" charset="-120"/>
              </a:rPr>
              <a:t>624 negocios</a:t>
            </a:r>
            <a:endParaRPr lang="en-US" sz="950" dirty="0"/>
          </a:p>
        </p:txBody>
      </p:sp>
      <p:sp>
        <p:nvSpPr>
          <p:cNvPr id="15" name="Shape 10"/>
          <p:cNvSpPr/>
          <p:nvPr/>
        </p:nvSpPr>
        <p:spPr>
          <a:xfrm>
            <a:off x="9098280" y="3456432"/>
            <a:ext cx="2651760" cy="1371600"/>
          </a:xfrm>
          <a:prstGeom prst="roundRect">
            <a:avLst>
              <a:gd name="adj" fmla="val 4000"/>
            </a:avLst>
          </a:prstGeom>
          <a:solidFill>
            <a:srgbClr val="FFFFFF"/>
          </a:solidFill>
          <a:ln w="12700">
            <a:solidFill>
              <a:srgbClr val="E6DFCB"/>
            </a:solidFill>
            <a:prstDash val="solid"/>
          </a:ln>
          <a:effectLst>
            <a:outerShdw blurRad="76200" dist="12700" dir="5400000" algn="bl" rotWithShape="0">
              <a:srgbClr val="C9BFA5">
                <a:alpha val="30000"/>
              </a:srgbClr>
            </a:outerShdw>
          </a:effectLst>
        </p:spPr>
      </p:sp>
      <p:sp>
        <p:nvSpPr>
          <p:cNvPr id="16" name="Text 11"/>
          <p:cNvSpPr txBox="1"/>
          <p:nvPr/>
        </p:nvSpPr>
        <p:spPr>
          <a:xfrm>
            <a:off x="9244584" y="3584448"/>
            <a:ext cx="2359152" cy="630936"/>
          </a:xfrm>
          <a:prstGeom prst="rect">
            <a:avLst/>
          </a:prstGeom>
          <a:noFill/>
          <a:ln/>
        </p:spPr>
        <p:txBody>
          <a:bodyPr wrap="square" lIns="0" tIns="0" rIns="0" bIns="0" rtlCol="0" anchor="ctr"/>
          <a:lstStyle/>
          <a:p>
            <a:pPr marL="0" indent="0">
              <a:buNone/>
            </a:pPr>
            <a:r>
              <a:rPr lang="en-US" sz="3000" b="1" dirty="0">
                <a:solidFill>
                  <a:srgbClr val="B3261E"/>
                </a:solidFill>
                <a:latin typeface="Calibri" pitchFamily="34" charset="0"/>
                <a:ea typeface="Calibri" pitchFamily="34" charset="-122"/>
                <a:cs typeface="Calibri" pitchFamily="34" charset="-120"/>
              </a:rPr>
              <a:t>35,5 %</a:t>
            </a:r>
            <a:endParaRPr lang="en-US" sz="3000" dirty="0"/>
          </a:p>
        </p:txBody>
      </p:sp>
      <p:sp>
        <p:nvSpPr>
          <p:cNvPr id="17" name="Text 12"/>
          <p:cNvSpPr txBox="1"/>
          <p:nvPr/>
        </p:nvSpPr>
        <p:spPr>
          <a:xfrm>
            <a:off x="9244584" y="4142232"/>
            <a:ext cx="2359152" cy="384048"/>
          </a:xfrm>
          <a:prstGeom prst="rect">
            <a:avLst/>
          </a:prstGeom>
          <a:noFill/>
          <a:ln/>
        </p:spPr>
        <p:txBody>
          <a:bodyPr wrap="square" lIns="0" tIns="0" rIns="0" bIns="0" rtlCol="0" anchor="ctr"/>
          <a:lstStyle/>
          <a:p>
            <a:pPr marL="0" indent="0">
              <a:buNone/>
            </a:pPr>
            <a:r>
              <a:rPr lang="en-US" sz="1150" b="1" dirty="0">
                <a:solidFill>
                  <a:srgbClr val="1A1A1A"/>
                </a:solidFill>
                <a:latin typeface="Calibri" pitchFamily="34" charset="0"/>
                <a:ea typeface="Calibri" pitchFamily="34" charset="-122"/>
                <a:cs typeface="Calibri" pitchFamily="34" charset="-120"/>
              </a:rPr>
              <a:t>No puede operar</a:t>
            </a:r>
            <a:endParaRPr lang="en-US" sz="1150" dirty="0"/>
          </a:p>
        </p:txBody>
      </p:sp>
      <p:sp>
        <p:nvSpPr>
          <p:cNvPr id="18" name="Text 13"/>
          <p:cNvSpPr txBox="1"/>
          <p:nvPr/>
        </p:nvSpPr>
        <p:spPr>
          <a:xfrm>
            <a:off x="9244584" y="4443984"/>
            <a:ext cx="2359152" cy="402336"/>
          </a:xfrm>
          <a:prstGeom prst="rect">
            <a:avLst/>
          </a:prstGeom>
          <a:noFill/>
          <a:ln/>
        </p:spPr>
        <p:txBody>
          <a:bodyPr wrap="square" lIns="0" tIns="0" rIns="0" bIns="0" rtlCol="0" anchor="ctr"/>
          <a:lstStyle/>
          <a:p>
            <a:pPr marL="0" indent="0">
              <a:buNone/>
            </a:pPr>
            <a:r>
              <a:rPr lang="en-US" sz="950" dirty="0">
                <a:solidFill>
                  <a:srgbClr val="5A5A5A"/>
                </a:solidFill>
                <a:latin typeface="Calibri" pitchFamily="34" charset="0"/>
                <a:ea typeface="Calibri" pitchFamily="34" charset="-122"/>
                <a:cs typeface="Calibri" pitchFamily="34" charset="-120"/>
              </a:rPr>
              <a:t>552 negocios</a:t>
            </a:r>
            <a:endParaRPr lang="en-US" sz="950" dirty="0"/>
          </a:p>
        </p:txBody>
      </p:sp>
      <p:sp>
        <p:nvSpPr>
          <p:cNvPr id="19" name="Text 14"/>
          <p:cNvSpPr txBox="1"/>
          <p:nvPr/>
        </p:nvSpPr>
        <p:spPr>
          <a:xfrm>
            <a:off x="3337560" y="5010912"/>
            <a:ext cx="8412480" cy="822960"/>
          </a:xfrm>
          <a:prstGeom prst="rect">
            <a:avLst/>
          </a:prstGeom>
          <a:noFill/>
          <a:ln/>
        </p:spPr>
        <p:txBody>
          <a:bodyPr wrap="square" lIns="0" tIns="0" rIns="0" bIns="0" rtlCol="0" anchor="ctr"/>
          <a:lstStyle/>
          <a:p>
            <a:pPr marL="0" indent="0">
              <a:lnSpc>
                <a:spcPts val="1800"/>
              </a:lnSpc>
              <a:buNone/>
            </a:pPr>
            <a:r>
              <a:rPr lang="en-US" sz="1250" b="1" dirty="0">
                <a:solidFill>
                  <a:srgbClr val="1A1A1A"/>
                </a:solidFill>
                <a:latin typeface="Calibri" pitchFamily="34" charset="0"/>
                <a:ea typeface="Calibri" pitchFamily="34" charset="-122"/>
                <a:cs typeface="Calibri" pitchFamily="34" charset="-120"/>
              </a:rPr>
              <a:t>75,5 % de la cadena turística no ha recuperado su operación normal. </a:t>
            </a:r>
            <a:r>
              <a:rPr lang="en-US" sz="1250" dirty="0">
                <a:solidFill>
                  <a:srgbClr val="1A1A1A"/>
                </a:solidFill>
                <a:latin typeface="Calibri" pitchFamily="34" charset="0"/>
                <a:ea typeface="Calibri" pitchFamily="34" charset="-122"/>
                <a:cs typeface="Calibri" pitchFamily="34" charset="-120"/>
              </a:rPr>
              <a:t>El cierre total pesa 6,6 puntos más que en el conjunto de la economía (35,5 % frente a 28,9 %), y la operación normal pesa 4,2 puntos menos. El cuello de botella del sector no es vender: es volver a abrir.</a:t>
            </a:r>
            <a:endParaRPr lang="en-US" sz="1250" dirty="0"/>
          </a:p>
        </p:txBody>
      </p:sp>
      <p:sp>
        <p:nvSpPr>
          <p:cNvPr id="20" name="Text 15"/>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Misma variable y misma construcción del informe de la Secretaría de Desarrollo Económico · 282 negocios turísticos no informan operación.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9E9"/>
        </a:solidFill>
        <a:effectLst/>
      </p:bgPr>
    </p:bg>
    <p:spTree>
      <p:nvGrpSpPr>
        <p:cNvPr id="1" name=""/>
        <p:cNvGrpSpPr/>
        <p:nvPr/>
      </p:nvGrpSpPr>
      <p:grpSpPr>
        <a:xfrm>
          <a:off x="0" y="0"/>
          <a:ext cx="0" cy="0"/>
          <a:chOff x="0" y="0"/>
          <a:chExt cx="0" cy="0"/>
        </a:xfrm>
      </p:grpSpPr>
      <p:pic>
        <p:nvPicPr>
          <p:cNvPr id="2" name="Image 0" descr="franja_agua.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Qué se dañó en los negocios turísticos</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Afectaciones declaradas por 1.686 establecimientos · selección múltiple</a:t>
            </a:r>
            <a:endParaRPr lang="en-US" sz="1250" dirty="0"/>
          </a:p>
        </p:txBody>
      </p:sp>
      <p:pic>
        <p:nvPicPr>
          <p:cNvPr id="6" name="Image 2" descr="p2_dano.png"/>
          <p:cNvPicPr>
            <a:picLocks noChangeAspect="1"/>
          </p:cNvPicPr>
          <p:nvPr/>
        </p:nvPicPr>
        <p:blipFill>
          <a:blip r:embed="rId5"/>
          <a:stretch>
            <a:fillRect/>
          </a:stretch>
        </p:blipFill>
        <p:spPr>
          <a:xfrm>
            <a:off x="3337560" y="1414620"/>
            <a:ext cx="8412480" cy="3333816"/>
          </a:xfrm>
          <a:prstGeom prst="rect">
            <a:avLst/>
          </a:prstGeom>
        </p:spPr>
      </p:pic>
      <p:sp>
        <p:nvSpPr>
          <p:cNvPr id="7" name="Text 2"/>
          <p:cNvSpPr txBox="1"/>
          <p:nvPr/>
        </p:nvSpPr>
        <p:spPr>
          <a:xfrm>
            <a:off x="3337560" y="5102352"/>
            <a:ext cx="8412480" cy="1005840"/>
          </a:xfrm>
          <a:prstGeom prst="rect">
            <a:avLst/>
          </a:prstGeom>
          <a:noFill/>
          <a:ln/>
        </p:spPr>
        <p:txBody>
          <a:bodyPr wrap="square" lIns="0" tIns="0" rIns="0" bIns="0" rtlCol="0" anchor="ctr"/>
          <a:lstStyle/>
          <a:p>
            <a:pPr marL="0" indent="0">
              <a:lnSpc>
                <a:spcPts val="1800"/>
              </a:lnSpc>
              <a:buNone/>
            </a:pPr>
            <a:r>
              <a:rPr lang="en-US" sz="1250" b="1" dirty="0">
                <a:solidFill>
                  <a:srgbClr val="1A1A1A"/>
                </a:solidFill>
                <a:latin typeface="Calibri" pitchFamily="34" charset="0"/>
                <a:ea typeface="Calibri" pitchFamily="34" charset="-122"/>
                <a:cs typeface="Calibri" pitchFamily="34" charset="-120"/>
              </a:rPr>
              <a:t>El daño del turismo es físico antes que comercial. </a:t>
            </a:r>
            <a:r>
              <a:rPr lang="en-US" sz="1250" dirty="0">
                <a:solidFill>
                  <a:srgbClr val="1A1A1A"/>
                </a:solidFill>
                <a:latin typeface="Calibri" pitchFamily="34" charset="0"/>
                <a:ea typeface="Calibri" pitchFamily="34" charset="-122"/>
                <a:cs typeface="Calibri" pitchFamily="34" charset="-120"/>
              </a:rPr>
              <a:t>73,0 % reporta daño en infraestructura, maquinaria o equipos, 4,8 puntos por encima del resto de la economía (68,2 %). En inventarios pasa lo contrario: 38,6 % frente a 35,5 %, porque un hotel o un restaurante no vive de la mercancía en bodega sino del local y del equipo.</a:t>
            </a:r>
            <a:endParaRPr lang="en-US" sz="1250" dirty="0"/>
          </a:p>
        </p:txBody>
      </p:sp>
      <p:sp>
        <p:nvSpPr>
          <p:cNvPr id="8" name="Text 3"/>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Los porcentajes no suman 100: cada establecimiento puede marcar varias opciones.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9E9"/>
        </a:solidFill>
        <a:effectLst/>
      </p:bgPr>
    </p:bg>
    <p:spTree>
      <p:nvGrpSpPr>
        <p:cNvPr id="1" name=""/>
        <p:cNvGrpSpPr/>
        <p:nvPr/>
      </p:nvGrpSpPr>
      <p:grpSpPr>
        <a:xfrm>
          <a:off x="0" y="0"/>
          <a:ext cx="0" cy="0"/>
          <a:chOff x="0" y="0"/>
          <a:chExt cx="0" cy="0"/>
        </a:xfrm>
      </p:grpSpPr>
      <p:pic>
        <p:nvPicPr>
          <p:cNvPr id="2" name="Image 0" descr="franja_sombrero.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Qué tipo de negocio turístico resultó afectado</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697 de los 1.839 establecimientos cuyo nombre comercial permite identificar el tipo</a:t>
            </a:r>
            <a:endParaRPr lang="en-US" sz="1250" dirty="0"/>
          </a:p>
        </p:txBody>
      </p:sp>
      <p:pic>
        <p:nvPicPr>
          <p:cNvPr id="6" name="Image 2" descr="p3_tipos.png"/>
          <p:cNvPicPr>
            <a:picLocks noChangeAspect="1"/>
          </p:cNvPicPr>
          <p:nvPr/>
        </p:nvPicPr>
        <p:blipFill>
          <a:blip r:embed="rId5"/>
          <a:stretch>
            <a:fillRect/>
          </a:stretch>
        </p:blipFill>
        <p:spPr>
          <a:xfrm>
            <a:off x="3337560" y="1394475"/>
            <a:ext cx="8412480" cy="3602706"/>
          </a:xfrm>
          <a:prstGeom prst="rect">
            <a:avLst/>
          </a:prstGeom>
        </p:spPr>
      </p:pic>
      <p:sp>
        <p:nvSpPr>
          <p:cNvPr id="7" name="Text 2"/>
          <p:cNvSpPr txBox="1"/>
          <p:nvPr/>
        </p:nvSpPr>
        <p:spPr>
          <a:xfrm>
            <a:off x="3337560" y="5230368"/>
            <a:ext cx="8412480" cy="914400"/>
          </a:xfrm>
          <a:prstGeom prst="rect">
            <a:avLst/>
          </a:prstGeom>
          <a:noFill/>
          <a:ln/>
        </p:spPr>
        <p:txBody>
          <a:bodyPr wrap="square" lIns="0" tIns="0" rIns="0" bIns="0" rtlCol="0" anchor="ctr"/>
          <a:lstStyle/>
          <a:p>
            <a:pPr marL="0" indent="0">
              <a:lnSpc>
                <a:spcPts val="1700"/>
              </a:lnSpc>
              <a:buNone/>
            </a:pPr>
            <a:r>
              <a:rPr lang="en-US" sz="1200" b="1" dirty="0">
                <a:solidFill>
                  <a:srgbClr val="1A1A1A"/>
                </a:solidFill>
                <a:latin typeface="Calibri" pitchFamily="34" charset="0"/>
                <a:ea typeface="Calibri" pitchFamily="34" charset="-122"/>
                <a:cs typeface="Calibri" pitchFamily="34" charset="-120"/>
              </a:rPr>
              <a:t>Restaurantes y comidas y alojamiento concentran el 63,3 % de lo tipificable. </a:t>
            </a:r>
            <a:r>
              <a:rPr lang="en-US" sz="1200" dirty="0">
                <a:solidFill>
                  <a:srgbClr val="1A1A1A"/>
                </a:solidFill>
                <a:latin typeface="Calibri" pitchFamily="34" charset="0"/>
                <a:ea typeface="Calibri" pitchFamily="34" charset="-122"/>
                <a:cs typeface="Calibri" pitchFamily="34" charset="-120"/>
              </a:rPr>
              <a:t>Son 303 y 138 establecimientos. Pero el alojamiento está más golpeado: 68,8 % en crítico o grave frente a 62,4 % de la comida, y declara $3.110 millones con la mitad de establecimientos. El tipo con mayor severidad es eventos y banquetes (84,6 %).</a:t>
            </a:r>
            <a:endParaRPr lang="en-US" sz="1200" dirty="0"/>
          </a:p>
        </p:txBody>
      </p:sp>
      <p:sp>
        <p:nvSpPr>
          <p:cNvPr id="8" name="Text 3"/>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El formulario no pregunta el tipo de negocio: se deduce de palabras del nombre comercial. 979 nombres no traen ninguna palabra reconocible y 163 están registrados a nombre de una persona natural; ambos quedan fuera de esta lámina.</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9E9"/>
        </a:solidFill>
        <a:effectLst/>
      </p:bgPr>
    </p:bg>
    <p:spTree>
      <p:nvGrpSpPr>
        <p:cNvPr id="1" name=""/>
        <p:cNvGrpSpPr/>
        <p:nvPr/>
      </p:nvGrpSpPr>
      <p:grpSpPr>
        <a:xfrm>
          <a:off x="0" y="0"/>
          <a:ext cx="0" cy="0"/>
          <a:chOff x="0" y="0"/>
          <a:chExt cx="0" cy="0"/>
        </a:xfrm>
      </p:grpSpPr>
      <p:pic>
        <p:nvPicPr>
          <p:cNvPr id="2" name="Image 0" descr="franja_agua.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Pérdidas estimadas por municipio</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$18.470 millones declarados por la cadena turística · cota inferior</a:t>
            </a:r>
            <a:endParaRPr lang="en-US" sz="1250" dirty="0"/>
          </a:p>
        </p:txBody>
      </p:sp>
      <p:pic>
        <p:nvPicPr>
          <p:cNvPr id="6" name="Image 2" descr="mt5_perdidas.png"/>
          <p:cNvPicPr>
            <a:picLocks noChangeAspect="1"/>
          </p:cNvPicPr>
          <p:nvPr/>
        </p:nvPicPr>
        <p:blipFill>
          <a:blip r:embed="rId5"/>
          <a:stretch>
            <a:fillRect/>
          </a:stretch>
        </p:blipFill>
        <p:spPr>
          <a:xfrm>
            <a:off x="3727649" y="1207008"/>
            <a:ext cx="4340463" cy="4572000"/>
          </a:xfrm>
          <a:prstGeom prst="rect">
            <a:avLst/>
          </a:prstGeom>
        </p:spPr>
      </p:pic>
      <p:pic>
        <p:nvPicPr>
          <p:cNvPr id="7" name="Image 3" descr="mt5_ranking.png"/>
          <p:cNvPicPr>
            <a:picLocks noChangeAspect="1"/>
          </p:cNvPicPr>
          <p:nvPr/>
        </p:nvPicPr>
        <p:blipFill>
          <a:blip r:embed="rId6"/>
          <a:stretch>
            <a:fillRect/>
          </a:stretch>
        </p:blipFill>
        <p:spPr>
          <a:xfrm>
            <a:off x="8641080" y="1833448"/>
            <a:ext cx="3063240" cy="3319119"/>
          </a:xfrm>
          <a:prstGeom prst="rect">
            <a:avLst/>
          </a:prstGeom>
        </p:spPr>
      </p:pic>
      <p:sp>
        <p:nvSpPr>
          <p:cNvPr id="8" name="Text 2"/>
          <p:cNvSpPr txBox="1"/>
          <p:nvPr/>
        </p:nvSpPr>
        <p:spPr>
          <a:xfrm>
            <a:off x="3337560" y="5852160"/>
            <a:ext cx="8412480" cy="457200"/>
          </a:xfrm>
          <a:prstGeom prst="rect">
            <a:avLst/>
          </a:prstGeom>
          <a:noFill/>
          <a:ln/>
        </p:spPr>
        <p:txBody>
          <a:bodyPr wrap="square" lIns="0" tIns="0" rIns="0" bIns="0" rtlCol="0" anchor="ctr"/>
          <a:lstStyle/>
          <a:p>
            <a:pPr marL="0" indent="0">
              <a:lnSpc>
                <a:spcPts val="1600"/>
              </a:lnSpc>
              <a:buNone/>
            </a:pPr>
            <a:r>
              <a:rPr lang="en-US" sz="1150" b="1" dirty="0">
                <a:solidFill>
                  <a:srgbClr val="1A1A1A"/>
                </a:solidFill>
                <a:latin typeface="Calibri" pitchFamily="34" charset="0"/>
                <a:ea typeface="Calibri" pitchFamily="34" charset="-122"/>
                <a:cs typeface="Calibri" pitchFamily="34" charset="-120"/>
              </a:rPr>
              <a:t>Cinco municipios concentran el 69,1 % de las pérdidas. </a:t>
            </a:r>
            <a:r>
              <a:rPr lang="en-US" sz="1150" dirty="0">
                <a:solidFill>
                  <a:srgbClr val="1A1A1A"/>
                </a:solidFill>
                <a:latin typeface="Calibri" pitchFamily="34" charset="0"/>
                <a:ea typeface="Calibri" pitchFamily="34" charset="-122"/>
                <a:cs typeface="Calibri" pitchFamily="34" charset="-120"/>
              </a:rPr>
              <a:t>Cali aporta 45,4 %, Buenaventura 9,3 % y Roldanillo 7,8 %, que con 119 negocios declara el 84 % de lo que declara Buenaventura, que tiene 143.</a:t>
            </a:r>
            <a:endParaRPr lang="en-US" sz="1150" dirty="0"/>
          </a:p>
        </p:txBody>
      </p:sp>
      <p:sp>
        <p:nvSpPr>
          <p:cNvPr id="9" name="Text 3"/>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Cota inferior: piso de cada rango declarado más $100 millones por cada uno de los 89 reportes del tramo abierto. El daño real es mayor.</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9E9"/>
        </a:solidFill>
        <a:effectLst/>
      </p:bgPr>
    </p:bg>
    <p:spTree>
      <p:nvGrpSpPr>
        <p:cNvPr id="1" name=""/>
        <p:cNvGrpSpPr/>
        <p:nvPr/>
      </p:nvGrpSpPr>
      <p:grpSpPr>
        <a:xfrm>
          <a:off x="0" y="0"/>
          <a:ext cx="0" cy="0"/>
          <a:chOff x="0" y="0"/>
          <a:chExt cx="0" cy="0"/>
        </a:xfrm>
      </p:grpSpPr>
      <p:pic>
        <p:nvPicPr>
          <p:cNvPr id="2" name="Image 0" descr="franja_mujer.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Qué alivios pide el sector</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La necesidad declarada y el instrumento financiero preferido</a:t>
            </a:r>
            <a:endParaRPr lang="en-US" sz="1250" dirty="0"/>
          </a:p>
        </p:txBody>
      </p:sp>
      <p:pic>
        <p:nvPicPr>
          <p:cNvPr id="6" name="Image 2" descr="t4_alivios.png"/>
          <p:cNvPicPr>
            <a:picLocks noChangeAspect="1"/>
          </p:cNvPicPr>
          <p:nvPr/>
        </p:nvPicPr>
        <p:blipFill>
          <a:blip r:embed="rId5"/>
          <a:stretch>
            <a:fillRect/>
          </a:stretch>
        </p:blipFill>
        <p:spPr>
          <a:xfrm>
            <a:off x="3347132" y="1371600"/>
            <a:ext cx="8393336" cy="3657600"/>
          </a:xfrm>
          <a:prstGeom prst="rect">
            <a:avLst/>
          </a:prstGeom>
        </p:spPr>
      </p:pic>
      <p:sp>
        <p:nvSpPr>
          <p:cNvPr id="7" name="Text 2"/>
          <p:cNvSpPr txBox="1"/>
          <p:nvPr/>
        </p:nvSpPr>
        <p:spPr>
          <a:xfrm>
            <a:off x="3337560" y="5138928"/>
            <a:ext cx="8412480" cy="1005840"/>
          </a:xfrm>
          <a:prstGeom prst="rect">
            <a:avLst/>
          </a:prstGeom>
          <a:noFill/>
          <a:ln/>
        </p:spPr>
        <p:txBody>
          <a:bodyPr wrap="square" lIns="0" tIns="0" rIns="0" bIns="0" rtlCol="0" anchor="ctr"/>
          <a:lstStyle/>
          <a:p>
            <a:pPr marL="0" indent="0">
              <a:lnSpc>
                <a:spcPts val="1800"/>
              </a:lnSpc>
              <a:buNone/>
            </a:pPr>
            <a:r>
              <a:rPr lang="en-US" sz="1250" b="1" dirty="0">
                <a:solidFill>
                  <a:srgbClr val="1A1A1A"/>
                </a:solidFill>
                <a:latin typeface="Calibri" pitchFamily="34" charset="0"/>
                <a:ea typeface="Calibri" pitchFamily="34" charset="-122"/>
                <a:cs typeface="Calibri" pitchFamily="34" charset="-120"/>
              </a:rPr>
              <a:t>El turismo invierte el orden del resto de la economía. </a:t>
            </a:r>
            <a:r>
              <a:rPr lang="en-US" sz="1250" dirty="0">
                <a:solidFill>
                  <a:srgbClr val="1A1A1A"/>
                </a:solidFill>
                <a:latin typeface="Calibri" pitchFamily="34" charset="0"/>
                <a:ea typeface="Calibri" pitchFamily="34" charset="-122"/>
                <a:cs typeface="Calibri" pitchFamily="34" charset="-120"/>
              </a:rPr>
              <a:t>En el departamento manda el capital de trabajo; en el turismo manda reparar instalaciones (49,7 % frente a 44,4 %). Un hotel o un restaurante no puede vender con el local dañado. Y el 60,1 % pide capital no reembolsable frente a 16,1 % que pide crédito.</a:t>
            </a:r>
            <a:endParaRPr lang="en-US" sz="1250" dirty="0"/>
          </a:p>
        </p:txBody>
      </p:sp>
      <p:sp>
        <p:nvSpPr>
          <p:cNvPr id="8" name="Text 3"/>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Selección múltiple: los porcentajes no suman 100.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9E9"/>
        </a:solidFill>
        <a:effectLst/>
      </p:bgPr>
    </p:bg>
    <p:spTree>
      <p:nvGrpSpPr>
        <p:cNvPr id="1" name=""/>
        <p:cNvGrpSpPr/>
        <p:nvPr/>
      </p:nvGrpSpPr>
      <p:grpSpPr>
        <a:xfrm>
          <a:off x="0" y="0"/>
          <a:ext cx="0" cy="0"/>
          <a:chOff x="0" y="0"/>
          <a:chExt cx="0" cy="0"/>
        </a:xfrm>
      </p:grpSpPr>
      <p:pic>
        <p:nvPicPr>
          <p:cNvPr id="2" name="Image 0" descr="franja_agua.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El turismo quedó peor que el promedio de la economía</a:t>
            </a:r>
            <a:endParaRPr lang="en-US" sz="2500" dirty="0"/>
          </a:p>
        </p:txBody>
      </p:sp>
      <p:sp>
        <p:nvSpPr>
          <p:cNvPr id="5" name="Text 1"/>
          <p:cNvSpPr txBox="1"/>
          <p:nvPr/>
        </p:nvSpPr>
        <p:spPr>
          <a:xfrm>
            <a:off x="3337560" y="896112"/>
            <a:ext cx="8412480" cy="365760"/>
          </a:xfrm>
          <a:prstGeom prst="rect">
            <a:avLst/>
          </a:prstGeom>
          <a:noFill/>
          <a:ln/>
        </p:spPr>
        <p:txBody>
          <a:bodyPr wrap="square" lIns="0" tIns="0" rIns="0" bIns="0" rtlCol="0" anchor="ctr"/>
          <a:lstStyle/>
          <a:p>
            <a:pPr marL="0" indent="0">
              <a:buNone/>
            </a:pPr>
            <a:r>
              <a:rPr lang="en-US" sz="1250" dirty="0">
                <a:solidFill>
                  <a:srgbClr val="5A5A5A"/>
                </a:solidFill>
                <a:latin typeface="Calibri" pitchFamily="34" charset="0"/>
                <a:ea typeface="Calibri" pitchFamily="34" charset="-122"/>
                <a:cs typeface="Calibri" pitchFamily="34" charset="-120"/>
              </a:rPr>
              <a:t>Mismos indicadores, mismo corte, mismas bases de respuesta</a:t>
            </a:r>
            <a:endParaRPr lang="en-US" sz="1250" dirty="0"/>
          </a:p>
        </p:txBody>
      </p:sp>
      <p:pic>
        <p:nvPicPr>
          <p:cNvPr id="6" name="Image 2" descr="t5_contraste.png"/>
          <p:cNvPicPr>
            <a:picLocks noChangeAspect="1"/>
          </p:cNvPicPr>
          <p:nvPr/>
        </p:nvPicPr>
        <p:blipFill>
          <a:blip r:embed="rId5"/>
          <a:stretch>
            <a:fillRect/>
          </a:stretch>
        </p:blipFill>
        <p:spPr>
          <a:xfrm>
            <a:off x="3902011" y="1371600"/>
            <a:ext cx="7283578" cy="3657600"/>
          </a:xfrm>
          <a:prstGeom prst="rect">
            <a:avLst/>
          </a:prstGeom>
        </p:spPr>
      </p:pic>
      <p:sp>
        <p:nvSpPr>
          <p:cNvPr id="7" name="Text 2"/>
          <p:cNvSpPr txBox="1"/>
          <p:nvPr/>
        </p:nvSpPr>
        <p:spPr>
          <a:xfrm>
            <a:off x="3337560" y="5138928"/>
            <a:ext cx="8412480" cy="822960"/>
          </a:xfrm>
          <a:prstGeom prst="rect">
            <a:avLst/>
          </a:prstGeom>
          <a:noFill/>
          <a:ln/>
        </p:spPr>
        <p:txBody>
          <a:bodyPr wrap="square" lIns="0" tIns="0" rIns="0" bIns="0" rtlCol="0" anchor="ctr"/>
          <a:lstStyle/>
          <a:p>
            <a:pPr marL="0" indent="0">
              <a:lnSpc>
                <a:spcPts val="1800"/>
              </a:lnSpc>
              <a:buNone/>
            </a:pPr>
            <a:r>
              <a:rPr lang="en-US" sz="1250" b="1" dirty="0">
                <a:solidFill>
                  <a:srgbClr val="1A1A1A"/>
                </a:solidFill>
                <a:latin typeface="Calibri" pitchFamily="34" charset="0"/>
                <a:ea typeface="Calibri" pitchFamily="34" charset="-122"/>
                <a:cs typeface="Calibri" pitchFamily="34" charset="-120"/>
              </a:rPr>
              <a:t>La diferencia más grande está en la severidad: </a:t>
            </a:r>
            <a:r>
              <a:rPr lang="en-US" sz="1250" dirty="0">
                <a:solidFill>
                  <a:srgbClr val="1A1A1A"/>
                </a:solidFill>
                <a:latin typeface="Calibri" pitchFamily="34" charset="0"/>
                <a:ea typeface="Calibri" pitchFamily="34" charset="-122"/>
                <a:cs typeface="Calibri" pitchFamily="34" charset="-120"/>
              </a:rPr>
              <a:t>62,8 % de los negocios turísticos está en nivel crítico o grave, frente a 55,6 % del total de la economía. Son 7,2 puntos, sobre un sector que además vive de un flujo de visitantes que también se interrumpió.</a:t>
            </a:r>
            <a:endParaRPr lang="en-US" sz="1250" dirty="0"/>
          </a:p>
        </p:txBody>
      </p:sp>
      <p:sp>
        <p:nvSpPr>
          <p:cNvPr id="8" name="Text 3"/>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Cadena turística frente a los 14.873 establecimientos de todos los sectores.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9E9"/>
        </a:solidFill>
        <a:effectLst/>
      </p:bgPr>
    </p:bg>
    <p:spTree>
      <p:nvGrpSpPr>
        <p:cNvPr id="1" name=""/>
        <p:cNvGrpSpPr/>
        <p:nvPr/>
      </p:nvGrpSpPr>
      <p:grpSpPr>
        <a:xfrm>
          <a:off x="0" y="0"/>
          <a:ext cx="0" cy="0"/>
          <a:chOff x="0" y="0"/>
          <a:chExt cx="0" cy="0"/>
        </a:xfrm>
      </p:grpSpPr>
      <p:pic>
        <p:nvPicPr>
          <p:cNvPr id="2" name="Image 0" descr="franja_sombrero.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Cinco decisiones que se desprenden de estos datos</a:t>
            </a:r>
            <a:endParaRPr lang="en-US" sz="2500" dirty="0"/>
          </a:p>
        </p:txBody>
      </p:sp>
      <p:sp>
        <p:nvSpPr>
          <p:cNvPr id="5" name="Shape 1"/>
          <p:cNvSpPr/>
          <p:nvPr/>
        </p:nvSpPr>
        <p:spPr>
          <a:xfrm>
            <a:off x="3337560" y="1408176"/>
            <a:ext cx="310896" cy="310896"/>
          </a:xfrm>
          <a:prstGeom prst="ellipse">
            <a:avLst/>
          </a:prstGeom>
          <a:solidFill>
            <a:srgbClr val="B3261E"/>
          </a:solidFill>
          <a:ln/>
        </p:spPr>
      </p:sp>
      <p:sp>
        <p:nvSpPr>
          <p:cNvPr id="6" name="Text 2"/>
          <p:cNvSpPr txBox="1"/>
          <p:nvPr/>
        </p:nvSpPr>
        <p:spPr>
          <a:xfrm>
            <a:off x="3337560" y="1408176"/>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3"/>
          <p:cNvSpPr txBox="1"/>
          <p:nvPr/>
        </p:nvSpPr>
        <p:spPr>
          <a:xfrm>
            <a:off x="3794760" y="1371600"/>
            <a:ext cx="7955280" cy="274320"/>
          </a:xfrm>
          <a:prstGeom prst="rect">
            <a:avLst/>
          </a:prstGeom>
          <a:noFill/>
          <a:ln/>
        </p:spPr>
        <p:txBody>
          <a:bodyPr wrap="square" lIns="0" tIns="0" rIns="0" bIns="0" rtlCol="0" anchor="ctr"/>
          <a:lstStyle/>
          <a:p>
            <a:pPr marL="0" indent="0">
              <a:buNone/>
            </a:pPr>
            <a:r>
              <a:rPr lang="en-US" sz="1350" b="1" dirty="0">
                <a:solidFill>
                  <a:srgbClr val="1F3864"/>
                </a:solidFill>
                <a:latin typeface="Calibri" pitchFamily="34" charset="0"/>
                <a:ea typeface="Calibri" pitchFamily="34" charset="-122"/>
                <a:cs typeface="Calibri" pitchFamily="34" charset="-120"/>
              </a:rPr>
              <a:t>Diseñar el alivio principal como capital no reembolsable con componente de obra.</a:t>
            </a:r>
            <a:endParaRPr lang="en-US" sz="1350" dirty="0"/>
          </a:p>
        </p:txBody>
      </p:sp>
      <p:sp>
        <p:nvSpPr>
          <p:cNvPr id="8" name="Text 4"/>
          <p:cNvSpPr txBox="1"/>
          <p:nvPr/>
        </p:nvSpPr>
        <p:spPr>
          <a:xfrm>
            <a:off x="3794760" y="1664208"/>
            <a:ext cx="7955280" cy="566928"/>
          </a:xfrm>
          <a:prstGeom prst="rect">
            <a:avLst/>
          </a:prstGeom>
          <a:noFill/>
          <a:ln/>
        </p:spPr>
        <p:txBody>
          <a:bodyPr wrap="square" lIns="0" tIns="0" rIns="0" bIns="0" rtlCol="0" anchor="t"/>
          <a:lstStyle/>
          <a:p>
            <a:pPr marL="0" indent="0">
              <a:lnSpc>
                <a:spcPts val="1400"/>
              </a:lnSpc>
              <a:buNone/>
            </a:pPr>
            <a:r>
              <a:rPr lang="en-US" sz="1100" dirty="0">
                <a:solidFill>
                  <a:srgbClr val="3A3A3A"/>
                </a:solidFill>
                <a:latin typeface="Calibri" pitchFamily="34" charset="0"/>
                <a:ea typeface="Calibri" pitchFamily="34" charset="-122"/>
                <a:cs typeface="Calibri" pitchFamily="34" charset="-120"/>
              </a:rPr>
              <a:t>El 60,1 % lo pide así, y la necesidad número uno del sector es reparar instalaciones.</a:t>
            </a:r>
            <a:endParaRPr lang="en-US" sz="1100" dirty="0"/>
          </a:p>
        </p:txBody>
      </p:sp>
      <p:sp>
        <p:nvSpPr>
          <p:cNvPr id="9" name="Shape 5"/>
          <p:cNvSpPr/>
          <p:nvPr/>
        </p:nvSpPr>
        <p:spPr>
          <a:xfrm>
            <a:off x="3337560" y="2386584"/>
            <a:ext cx="310896" cy="310896"/>
          </a:xfrm>
          <a:prstGeom prst="ellipse">
            <a:avLst/>
          </a:prstGeom>
          <a:solidFill>
            <a:srgbClr val="B3261E"/>
          </a:solidFill>
          <a:ln/>
        </p:spPr>
      </p:sp>
      <p:sp>
        <p:nvSpPr>
          <p:cNvPr id="10" name="Text 6"/>
          <p:cNvSpPr txBox="1"/>
          <p:nvPr/>
        </p:nvSpPr>
        <p:spPr>
          <a:xfrm>
            <a:off x="3337560" y="2386584"/>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7"/>
          <p:cNvSpPr txBox="1"/>
          <p:nvPr/>
        </p:nvSpPr>
        <p:spPr>
          <a:xfrm>
            <a:off x="3794760" y="2350008"/>
            <a:ext cx="7955280" cy="274320"/>
          </a:xfrm>
          <a:prstGeom prst="rect">
            <a:avLst/>
          </a:prstGeom>
          <a:noFill/>
          <a:ln/>
        </p:spPr>
        <p:txBody>
          <a:bodyPr wrap="square" lIns="0" tIns="0" rIns="0" bIns="0" rtlCol="0" anchor="ctr"/>
          <a:lstStyle/>
          <a:p>
            <a:pPr marL="0" indent="0">
              <a:buNone/>
            </a:pPr>
            <a:r>
              <a:rPr lang="en-US" sz="1350" b="1" dirty="0">
                <a:solidFill>
                  <a:srgbClr val="1F3864"/>
                </a:solidFill>
                <a:latin typeface="Calibri" pitchFamily="34" charset="0"/>
                <a:ea typeface="Calibri" pitchFamily="34" charset="-122"/>
                <a:cs typeface="Calibri" pitchFamily="34" charset="-120"/>
              </a:rPr>
              <a:t>No exigir RNT vigente como requisito de entrada.</a:t>
            </a:r>
            <a:endParaRPr lang="en-US" sz="1350" dirty="0"/>
          </a:p>
        </p:txBody>
      </p:sp>
      <p:sp>
        <p:nvSpPr>
          <p:cNvPr id="12" name="Text 8"/>
          <p:cNvSpPr txBox="1"/>
          <p:nvPr/>
        </p:nvSpPr>
        <p:spPr>
          <a:xfrm>
            <a:off x="3794760" y="2642616"/>
            <a:ext cx="7955280" cy="566928"/>
          </a:xfrm>
          <a:prstGeom prst="rect">
            <a:avLst/>
          </a:prstGeom>
          <a:noFill/>
          <a:ln/>
        </p:spPr>
        <p:txBody>
          <a:bodyPr wrap="square" lIns="0" tIns="0" rIns="0" bIns="0" rtlCol="0" anchor="t"/>
          <a:lstStyle/>
          <a:p>
            <a:pPr marL="0" indent="0">
              <a:lnSpc>
                <a:spcPts val="1400"/>
              </a:lnSpc>
              <a:buNone/>
            </a:pPr>
            <a:r>
              <a:rPr lang="en-US" sz="1100" dirty="0">
                <a:solidFill>
                  <a:srgbClr val="3A3A3A"/>
                </a:solidFill>
                <a:latin typeface="Calibri" pitchFamily="34" charset="0"/>
                <a:ea typeface="Calibri" pitchFamily="34" charset="-122"/>
                <a:cs typeface="Calibri" pitchFamily="34" charset="-120"/>
              </a:rPr>
              <a:t>El censo recoge cualquier negocio turístico; el RNT tiene 7.709 inscritos y más de la mitad son viviendas turísticas. Condicionar el alivio al registro deja fuera al turismo informal, que es el que más reporta en el norte.</a:t>
            </a:r>
            <a:endParaRPr lang="en-US" sz="1100" dirty="0"/>
          </a:p>
        </p:txBody>
      </p:sp>
      <p:sp>
        <p:nvSpPr>
          <p:cNvPr id="13" name="Shape 9"/>
          <p:cNvSpPr/>
          <p:nvPr/>
        </p:nvSpPr>
        <p:spPr>
          <a:xfrm>
            <a:off x="3337560" y="3364992"/>
            <a:ext cx="310896" cy="310896"/>
          </a:xfrm>
          <a:prstGeom prst="ellipse">
            <a:avLst/>
          </a:prstGeom>
          <a:solidFill>
            <a:srgbClr val="1F3864"/>
          </a:solidFill>
          <a:ln/>
        </p:spPr>
      </p:sp>
      <p:sp>
        <p:nvSpPr>
          <p:cNvPr id="14" name="Text 10"/>
          <p:cNvSpPr txBox="1"/>
          <p:nvPr/>
        </p:nvSpPr>
        <p:spPr>
          <a:xfrm>
            <a:off x="3337560" y="3364992"/>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1"/>
          <p:cNvSpPr txBox="1"/>
          <p:nvPr/>
        </p:nvSpPr>
        <p:spPr>
          <a:xfrm>
            <a:off x="3794760" y="3328416"/>
            <a:ext cx="7955280" cy="274320"/>
          </a:xfrm>
          <a:prstGeom prst="rect">
            <a:avLst/>
          </a:prstGeom>
          <a:noFill/>
          <a:ln/>
        </p:spPr>
        <p:txBody>
          <a:bodyPr wrap="square" lIns="0" tIns="0" rIns="0" bIns="0" rtlCol="0" anchor="ctr"/>
          <a:lstStyle/>
          <a:p>
            <a:pPr marL="0" indent="0">
              <a:buNone/>
            </a:pPr>
            <a:r>
              <a:rPr lang="en-US" sz="1350" b="1" dirty="0">
                <a:solidFill>
                  <a:srgbClr val="1F3864"/>
                </a:solidFill>
                <a:latin typeface="Calibri" pitchFamily="34" charset="0"/>
                <a:ea typeface="Calibri" pitchFamily="34" charset="-122"/>
                <a:cs typeface="Calibri" pitchFamily="34" charset="-120"/>
              </a:rPr>
              <a:t>Atender el corredor norte por intensidad, no por volumen.</a:t>
            </a:r>
            <a:endParaRPr lang="en-US" sz="1350" dirty="0"/>
          </a:p>
        </p:txBody>
      </p:sp>
      <p:sp>
        <p:nvSpPr>
          <p:cNvPr id="16" name="Text 12"/>
          <p:cNvSpPr txBox="1"/>
          <p:nvPr/>
        </p:nvSpPr>
        <p:spPr>
          <a:xfrm>
            <a:off x="3794760" y="3621024"/>
            <a:ext cx="7955280" cy="566928"/>
          </a:xfrm>
          <a:prstGeom prst="rect">
            <a:avLst/>
          </a:prstGeom>
          <a:noFill/>
          <a:ln/>
        </p:spPr>
        <p:txBody>
          <a:bodyPr wrap="square" lIns="0" tIns="0" rIns="0" bIns="0" rtlCol="0" anchor="t"/>
          <a:lstStyle/>
          <a:p>
            <a:pPr marL="0" indent="0">
              <a:lnSpc>
                <a:spcPts val="1400"/>
              </a:lnSpc>
              <a:buNone/>
            </a:pPr>
            <a:r>
              <a:rPr lang="en-US" sz="1100" dirty="0">
                <a:solidFill>
                  <a:srgbClr val="3A3A3A"/>
                </a:solidFill>
                <a:latin typeface="Calibri" pitchFamily="34" charset="0"/>
                <a:ea typeface="Calibri" pitchFamily="34" charset="-122"/>
                <a:cs typeface="Calibri" pitchFamily="34" charset="-120"/>
              </a:rPr>
              <a:t>El Cairo, Argelia, Toro, Versalles, Bugalagrande reportan entre 160 y 357 daños por cada 100 inscritos: son municipios pequeños que un ranking por totales esconde.</a:t>
            </a:r>
            <a:endParaRPr lang="en-US" sz="1100" dirty="0"/>
          </a:p>
        </p:txBody>
      </p:sp>
      <p:sp>
        <p:nvSpPr>
          <p:cNvPr id="17" name="Shape 13"/>
          <p:cNvSpPr/>
          <p:nvPr/>
        </p:nvSpPr>
        <p:spPr>
          <a:xfrm>
            <a:off x="3337560" y="4343400"/>
            <a:ext cx="310896" cy="310896"/>
          </a:xfrm>
          <a:prstGeom prst="ellipse">
            <a:avLst/>
          </a:prstGeom>
          <a:solidFill>
            <a:srgbClr val="1F3864"/>
          </a:solidFill>
          <a:ln/>
        </p:spPr>
      </p:sp>
      <p:sp>
        <p:nvSpPr>
          <p:cNvPr id="18" name="Text 14"/>
          <p:cNvSpPr txBox="1"/>
          <p:nvPr/>
        </p:nvSpPr>
        <p:spPr>
          <a:xfrm>
            <a:off x="3337560" y="4343400"/>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5"/>
          <p:cNvSpPr txBox="1"/>
          <p:nvPr/>
        </p:nvSpPr>
        <p:spPr>
          <a:xfrm>
            <a:off x="3794760" y="4306824"/>
            <a:ext cx="7955280" cy="274320"/>
          </a:xfrm>
          <a:prstGeom prst="rect">
            <a:avLst/>
          </a:prstGeom>
          <a:noFill/>
          <a:ln/>
        </p:spPr>
        <p:txBody>
          <a:bodyPr wrap="square" lIns="0" tIns="0" rIns="0" bIns="0" rtlCol="0" anchor="ctr"/>
          <a:lstStyle/>
          <a:p>
            <a:pPr marL="0" indent="0">
              <a:buNone/>
            </a:pPr>
            <a:r>
              <a:rPr lang="en-US" sz="1350" b="1" dirty="0">
                <a:solidFill>
                  <a:srgbClr val="1F3864"/>
                </a:solidFill>
                <a:latin typeface="Calibri" pitchFamily="34" charset="0"/>
                <a:ea typeface="Calibri" pitchFamily="34" charset="-122"/>
                <a:cs typeface="Calibri" pitchFamily="34" charset="-120"/>
              </a:rPr>
              <a:t>Revisar por qué el sur casi no reporta.</a:t>
            </a:r>
            <a:endParaRPr lang="en-US" sz="1350" dirty="0"/>
          </a:p>
        </p:txBody>
      </p:sp>
      <p:sp>
        <p:nvSpPr>
          <p:cNvPr id="20" name="Text 16"/>
          <p:cNvSpPr txBox="1"/>
          <p:nvPr/>
        </p:nvSpPr>
        <p:spPr>
          <a:xfrm>
            <a:off x="3794760" y="4599432"/>
            <a:ext cx="7955280" cy="566928"/>
          </a:xfrm>
          <a:prstGeom prst="rect">
            <a:avLst/>
          </a:prstGeom>
          <a:noFill/>
          <a:ln/>
        </p:spPr>
        <p:txBody>
          <a:bodyPr wrap="square" lIns="0" tIns="0" rIns="0" bIns="0" rtlCol="0" anchor="t"/>
          <a:lstStyle/>
          <a:p>
            <a:pPr marL="0" indent="0">
              <a:lnSpc>
                <a:spcPts val="1400"/>
              </a:lnSpc>
              <a:buNone/>
            </a:pPr>
            <a:r>
              <a:rPr lang="en-US" sz="1100" dirty="0">
                <a:solidFill>
                  <a:srgbClr val="3A3A3A"/>
                </a:solidFill>
                <a:latin typeface="Calibri" pitchFamily="34" charset="0"/>
                <a:ea typeface="Calibri" pitchFamily="34" charset="-122"/>
                <a:cs typeface="Calibri" pitchFamily="34" charset="-120"/>
              </a:rPr>
              <a:t>Florida, Candelaria y Pradera suman 4 reportes turísticos entre los tres. Antes de concluir que no hubo daño conviene verificar cómo se difundió el formulario.</a:t>
            </a:r>
            <a:endParaRPr lang="en-US" sz="1100" dirty="0"/>
          </a:p>
        </p:txBody>
      </p:sp>
      <p:sp>
        <p:nvSpPr>
          <p:cNvPr id="21" name="Shape 17"/>
          <p:cNvSpPr/>
          <p:nvPr/>
        </p:nvSpPr>
        <p:spPr>
          <a:xfrm>
            <a:off x="3337560" y="5321808"/>
            <a:ext cx="310896" cy="310896"/>
          </a:xfrm>
          <a:prstGeom prst="ellipse">
            <a:avLst/>
          </a:prstGeom>
          <a:solidFill>
            <a:srgbClr val="1F3864"/>
          </a:solidFill>
          <a:ln/>
        </p:spPr>
      </p:sp>
      <p:sp>
        <p:nvSpPr>
          <p:cNvPr id="22" name="Text 18"/>
          <p:cNvSpPr txBox="1"/>
          <p:nvPr/>
        </p:nvSpPr>
        <p:spPr>
          <a:xfrm>
            <a:off x="3337560" y="5321808"/>
            <a:ext cx="310896" cy="31089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19"/>
          <p:cNvSpPr txBox="1"/>
          <p:nvPr/>
        </p:nvSpPr>
        <p:spPr>
          <a:xfrm>
            <a:off x="3794760" y="5285232"/>
            <a:ext cx="7955280" cy="274320"/>
          </a:xfrm>
          <a:prstGeom prst="rect">
            <a:avLst/>
          </a:prstGeom>
          <a:noFill/>
          <a:ln/>
        </p:spPr>
        <p:txBody>
          <a:bodyPr wrap="square" lIns="0" tIns="0" rIns="0" bIns="0" rtlCol="0" anchor="ctr"/>
          <a:lstStyle/>
          <a:p>
            <a:pPr marL="0" indent="0">
              <a:buNone/>
            </a:pPr>
            <a:r>
              <a:rPr lang="en-US" sz="1350" b="1" dirty="0">
                <a:solidFill>
                  <a:srgbClr val="1F3864"/>
                </a:solidFill>
                <a:latin typeface="Calibri" pitchFamily="34" charset="0"/>
                <a:ea typeface="Calibri" pitchFamily="34" charset="-122"/>
                <a:cs typeface="Calibri" pitchFamily="34" charset="-120"/>
              </a:rPr>
              <a:t>Pedir el código RNT en el formulario de reporte.</a:t>
            </a:r>
            <a:endParaRPr lang="en-US" sz="1350" dirty="0"/>
          </a:p>
        </p:txBody>
      </p:sp>
      <p:sp>
        <p:nvSpPr>
          <p:cNvPr id="24" name="Text 20"/>
          <p:cNvSpPr txBox="1"/>
          <p:nvPr/>
        </p:nvSpPr>
        <p:spPr>
          <a:xfrm>
            <a:off x="3794760" y="5577840"/>
            <a:ext cx="7955280" cy="566928"/>
          </a:xfrm>
          <a:prstGeom prst="rect">
            <a:avLst/>
          </a:prstGeom>
          <a:noFill/>
          <a:ln/>
        </p:spPr>
        <p:txBody>
          <a:bodyPr wrap="square" lIns="0" tIns="0" rIns="0" bIns="0" rtlCol="0" anchor="t"/>
          <a:lstStyle/>
          <a:p>
            <a:pPr marL="0" indent="0">
              <a:lnSpc>
                <a:spcPts val="1400"/>
              </a:lnSpc>
              <a:buNone/>
            </a:pPr>
            <a:r>
              <a:rPr lang="en-US" sz="1100" dirty="0">
                <a:solidFill>
                  <a:srgbClr val="3A3A3A"/>
                </a:solidFill>
                <a:latin typeface="Calibri" pitchFamily="34" charset="0"/>
                <a:ea typeface="Calibri" pitchFamily="34" charset="-122"/>
                <a:cs typeface="Calibri" pitchFamily="34" charset="-120"/>
              </a:rPr>
              <a:t>Hoy las dos bases solo pueden compararse por municipio. Un campo de RNT permitiría medir la afectación del registro establecimiento por establecimiento.</a:t>
            </a:r>
            <a:endParaRPr lang="en-US" sz="1100" dirty="0"/>
          </a:p>
        </p:txBody>
      </p:sp>
      <p:sp>
        <p:nvSpPr>
          <p:cNvPr id="25" name="Text 21"/>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Elaboración propia sobre el censo de afectación y el RNT vigente.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9E9"/>
        </a:solidFill>
        <a:effectLst/>
      </p:bgPr>
    </p:bg>
    <p:spTree>
      <p:nvGrpSpPr>
        <p:cNvPr id="1" name=""/>
        <p:cNvGrpSpPr/>
        <p:nvPr/>
      </p:nvGrpSpPr>
      <p:grpSpPr>
        <a:xfrm>
          <a:off x="0" y="0"/>
          <a:ext cx="0" cy="0"/>
          <a:chOff x="0" y="0"/>
          <a:chExt cx="0" cy="0"/>
        </a:xfrm>
      </p:grpSpPr>
      <p:pic>
        <p:nvPicPr>
          <p:cNvPr id="2" name="Image 0" descr="franja_mujer.jpg"/>
          <p:cNvPicPr>
            <a:picLocks noChangeAspect="1"/>
          </p:cNvPicPr>
          <p:nvPr/>
        </p:nvPicPr>
        <p:blipFill>
          <a:blip r:embed="rId3"/>
          <a:srcRect/>
          <a:stretch/>
        </p:blipFill>
        <p:spPr>
          <a:xfrm>
            <a:off x="0" y="0"/>
            <a:ext cx="2935224" cy="6858000"/>
          </a:xfrm>
          <a:prstGeom prst="rect">
            <a:avLst/>
          </a:prstGeom>
        </p:spPr>
      </p:pic>
      <p:pic>
        <p:nvPicPr>
          <p:cNvPr id="3" name="Image 1" descr="logos_gob.png"/>
          <p:cNvPicPr>
            <a:picLocks noChangeAspect="1"/>
          </p:cNvPicPr>
          <p:nvPr/>
        </p:nvPicPr>
        <p:blipFill>
          <a:blip r:embed="rId4"/>
          <a:stretch>
            <a:fillRect/>
          </a:stretch>
        </p:blipFill>
        <p:spPr>
          <a:xfrm>
            <a:off x="9802368" y="6089904"/>
            <a:ext cx="2057400" cy="548640"/>
          </a:xfrm>
          <a:prstGeom prst="rect">
            <a:avLst/>
          </a:prstGeom>
        </p:spPr>
      </p:pic>
      <p:sp>
        <p:nvSpPr>
          <p:cNvPr id="4" name="Text 0"/>
          <p:cNvSpPr txBox="1"/>
          <p:nvPr/>
        </p:nvSpPr>
        <p:spPr>
          <a:xfrm>
            <a:off x="3337560" y="384048"/>
            <a:ext cx="8412480" cy="502920"/>
          </a:xfrm>
          <a:prstGeom prst="rect">
            <a:avLst/>
          </a:prstGeom>
          <a:noFill/>
          <a:ln/>
        </p:spPr>
        <p:txBody>
          <a:bodyPr wrap="square" lIns="0" tIns="0" rIns="0" bIns="0" rtlCol="0" anchor="ctr"/>
          <a:lstStyle/>
          <a:p>
            <a:pPr marL="0" indent="0">
              <a:buNone/>
            </a:pPr>
            <a:r>
              <a:rPr lang="en-US" sz="2500" b="1" dirty="0">
                <a:solidFill>
                  <a:srgbClr val="1F3864"/>
                </a:solidFill>
                <a:latin typeface="Calibri" pitchFamily="34" charset="0"/>
                <a:ea typeface="Calibri" pitchFamily="34" charset="-122"/>
                <a:cs typeface="Calibri" pitchFamily="34" charset="-120"/>
              </a:rPr>
              <a:t>Cómo se construyeron estas cifras</a:t>
            </a:r>
            <a:endParaRPr lang="en-US" sz="2500" dirty="0"/>
          </a:p>
        </p:txBody>
      </p:sp>
      <p:sp>
        <p:nvSpPr>
          <p:cNvPr id="5" name="Text 1"/>
          <p:cNvSpPr txBox="1"/>
          <p:nvPr/>
        </p:nvSpPr>
        <p:spPr>
          <a:xfrm>
            <a:off x="3337560" y="1115568"/>
            <a:ext cx="841248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Fuentes</a:t>
            </a:r>
            <a:endParaRPr lang="en-US" sz="1400" dirty="0"/>
          </a:p>
        </p:txBody>
      </p:sp>
      <p:sp>
        <p:nvSpPr>
          <p:cNvPr id="6" name="Text 2"/>
          <p:cNvSpPr txBox="1"/>
          <p:nvPr/>
        </p:nvSpPr>
        <p:spPr>
          <a:xfrm>
            <a:off x="3337560" y="1426464"/>
            <a:ext cx="8412480" cy="1170432"/>
          </a:xfrm>
          <a:prstGeom prst="rect">
            <a:avLst/>
          </a:prstGeom>
          <a:noFill/>
          <a:ln/>
        </p:spPr>
        <p:txBody>
          <a:bodyPr wrap="square" lIns="0" tIns="0" rIns="0" bIns="0" rtlCol="0" anchor="t"/>
          <a:lstStyle/>
          <a:p>
            <a:pPr marL="342900" indent="-342900">
              <a:lnSpc>
                <a:spcPts val="1676"/>
              </a:lnSpc>
              <a:spcAft>
                <a:spcPts val="900"/>
              </a:spcAft>
              <a:buSzPct val="100000"/>
              <a:buChar char="•"/>
            </a:pPr>
            <a:r>
              <a:rPr lang="en-US" sz="1180" dirty="0">
                <a:solidFill>
                  <a:srgbClr val="1A1A1A"/>
                </a:solidFill>
                <a:latin typeface="Calibri" pitchFamily="34" charset="0"/>
                <a:ea typeface="Calibri" pitchFamily="34" charset="-122"/>
                <a:cs typeface="Calibri" pitchFamily="34" charset="-120"/>
              </a:rPr>
              <a:t>Censo de afectación empresarial · 14.873 establecimientos únicos tras depurar 772 dobles notificaciones sobre 15.645 reportes recibidos, corte 3 de septiembre de 2026.</a:t>
            </a:r>
            <a:endParaRPr lang="en-US" sz="1180" dirty="0"/>
          </a:p>
          <a:p>
            <a:pPr marL="342900" indent="-342900">
              <a:lnSpc>
                <a:spcPts val="1676"/>
              </a:lnSpc>
              <a:spcAft>
                <a:spcPts val="900"/>
              </a:spcAft>
              <a:buSzPct val="100000"/>
              <a:buChar char="•"/>
            </a:pPr>
            <a:r>
              <a:rPr lang="en-US" sz="1180" dirty="0">
                <a:solidFill>
                  <a:srgbClr val="1A1A1A"/>
                </a:solidFill>
                <a:latin typeface="Calibri" pitchFamily="34" charset="0"/>
                <a:ea typeface="Calibri" pitchFamily="34" charset="-122"/>
                <a:cs typeface="Calibri" pitchFamily="34" charset="-120"/>
              </a:rPr>
              <a:t>Registro Nacional de Turismo del Valle · 7.709 prestadores vigentes 2026 en 41 municipios, 20.217 empleos declarados.</a:t>
            </a:r>
            <a:endParaRPr lang="en-US" sz="1180" dirty="0"/>
          </a:p>
        </p:txBody>
      </p:sp>
      <p:sp>
        <p:nvSpPr>
          <p:cNvPr id="7" name="Text 3"/>
          <p:cNvSpPr txBox="1"/>
          <p:nvPr/>
        </p:nvSpPr>
        <p:spPr>
          <a:xfrm>
            <a:off x="3337560" y="2468880"/>
            <a:ext cx="841248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Qué cuenta como cadena de valor del turismo</a:t>
            </a:r>
            <a:endParaRPr lang="en-US" sz="1400" dirty="0"/>
          </a:p>
        </p:txBody>
      </p:sp>
      <p:sp>
        <p:nvSpPr>
          <p:cNvPr id="8" name="Text 4"/>
          <p:cNvSpPr txBox="1"/>
          <p:nvPr/>
        </p:nvSpPr>
        <p:spPr>
          <a:xfrm>
            <a:off x="3337560" y="2779776"/>
            <a:ext cx="8412480" cy="1170432"/>
          </a:xfrm>
          <a:prstGeom prst="rect">
            <a:avLst/>
          </a:prstGeom>
          <a:noFill/>
          <a:ln/>
        </p:spPr>
        <p:txBody>
          <a:bodyPr wrap="square" lIns="0" tIns="0" rIns="0" bIns="0" rtlCol="0" anchor="t"/>
          <a:lstStyle/>
          <a:p>
            <a:pPr marL="342900" indent="-342900">
              <a:lnSpc>
                <a:spcPts val="1676"/>
              </a:lnSpc>
              <a:spcAft>
                <a:spcPts val="900"/>
              </a:spcAft>
              <a:buSzPct val="100000"/>
              <a:buChar char="•"/>
            </a:pPr>
            <a:r>
              <a:rPr lang="en-US" sz="1180" dirty="0">
                <a:solidFill>
                  <a:srgbClr val="1A1A1A"/>
                </a:solidFill>
                <a:latin typeface="Calibri" pitchFamily="34" charset="0"/>
                <a:ea typeface="Calibri" pitchFamily="34" charset="-122"/>
                <a:cs typeface="Calibri" pitchFamily="34" charset="-120"/>
              </a:rPr>
              <a:t>Los sectores «Alojamiento y servicios de comida» y «Transporte y almacenamiento» del censo: 1.839 establecimientos. Es el mismo criterio con el que se construyó la cifra ya socializada, aplicado a la base depurada.</a:t>
            </a:r>
            <a:endParaRPr lang="en-US" sz="1180" dirty="0"/>
          </a:p>
          <a:p>
            <a:pPr marL="342900" indent="-342900">
              <a:lnSpc>
                <a:spcPts val="1676"/>
              </a:lnSpc>
              <a:spcAft>
                <a:spcPts val="900"/>
              </a:spcAft>
              <a:buSzPct val="100000"/>
              <a:buChar char="•"/>
            </a:pPr>
            <a:r>
              <a:rPr lang="en-US" sz="1180" dirty="0">
                <a:solidFill>
                  <a:srgbClr val="1A1A1A"/>
                </a:solidFill>
                <a:latin typeface="Calibri" pitchFamily="34" charset="0"/>
                <a:ea typeface="Calibri" pitchFamily="34" charset="-122"/>
                <a:cs typeface="Calibri" pitchFamily="34" charset="-120"/>
              </a:rPr>
              <a:t>Dentro de esos 1.839, 19 declaran no haber sufrido afectación. Se conservan en el universo para no romper la comparación con la cifra ya socializada, y quedan visibles como categoría propia en los gráficos.</a:t>
            </a:r>
            <a:endParaRPr lang="en-US" sz="1180" dirty="0"/>
          </a:p>
        </p:txBody>
      </p:sp>
      <p:sp>
        <p:nvSpPr>
          <p:cNvPr id="9" name="Text 5"/>
          <p:cNvSpPr txBox="1"/>
          <p:nvPr/>
        </p:nvSpPr>
        <p:spPr>
          <a:xfrm>
            <a:off x="3337560" y="4224528"/>
            <a:ext cx="8412480" cy="274320"/>
          </a:xfrm>
          <a:prstGeom prst="rect">
            <a:avLst/>
          </a:prstGeom>
          <a:noFill/>
          <a:ln/>
        </p:spPr>
        <p:txBody>
          <a:bodyPr wrap="square" lIns="0" tIns="0" rIns="0" bIns="0"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Por qué el cruce con el RNT es solo municipal</a:t>
            </a:r>
            <a:endParaRPr lang="en-US" sz="1400" dirty="0"/>
          </a:p>
        </p:txBody>
      </p:sp>
      <p:sp>
        <p:nvSpPr>
          <p:cNvPr id="10" name="Text 6"/>
          <p:cNvSpPr txBox="1"/>
          <p:nvPr/>
        </p:nvSpPr>
        <p:spPr>
          <a:xfrm>
            <a:off x="3337560" y="4535424"/>
            <a:ext cx="8412480" cy="1572768"/>
          </a:xfrm>
          <a:prstGeom prst="rect">
            <a:avLst/>
          </a:prstGeom>
          <a:noFill/>
          <a:ln/>
        </p:spPr>
        <p:txBody>
          <a:bodyPr wrap="square" lIns="0" tIns="0" rIns="0" bIns="0" rtlCol="0" anchor="t"/>
          <a:lstStyle/>
          <a:p>
            <a:pPr marL="342900" indent="-342900">
              <a:lnSpc>
                <a:spcPts val="1562"/>
              </a:lnSpc>
              <a:spcAft>
                <a:spcPts val="900"/>
              </a:spcAft>
              <a:buSzPct val="100000"/>
              <a:buChar char="•"/>
            </a:pPr>
            <a:r>
              <a:rPr lang="en-US" sz="1100" dirty="0">
                <a:solidFill>
                  <a:srgbClr val="1A1A1A"/>
                </a:solidFill>
                <a:latin typeface="Calibri" pitchFamily="34" charset="0"/>
                <a:ea typeface="Calibri" pitchFamily="34" charset="-122"/>
                <a:cs typeface="Calibri" pitchFamily="34" charset="-120"/>
              </a:rPr>
              <a:t>Las dos bases no comparten identificador: el RNT no trae NIT. Emparejar por razón social uno a uno solo logra 95 coincidencias sobre 1.839 reportes (5,2 %), base insuficiente para decir nada por municipio.</a:t>
            </a:r>
            <a:endParaRPr lang="en-US" sz="1100" dirty="0"/>
          </a:p>
          <a:p>
            <a:pPr marL="342900" indent="-342900">
              <a:lnSpc>
                <a:spcPts val="1562"/>
              </a:lnSpc>
              <a:spcAft>
                <a:spcPts val="900"/>
              </a:spcAft>
              <a:buSzPct val="100000"/>
              <a:buChar char="•"/>
            </a:pPr>
            <a:r>
              <a:rPr lang="en-US" sz="1100" dirty="0">
                <a:solidFill>
                  <a:srgbClr val="1A1A1A"/>
                </a:solidFill>
                <a:latin typeface="Calibri" pitchFamily="34" charset="0"/>
                <a:ea typeface="Calibri" pitchFamily="34" charset="-122"/>
                <a:cs typeface="Calibri" pitchFamily="34" charset="-120"/>
              </a:rPr>
              <a:t>El cruce municipal, en cambio, cubre 41 de los 42 municipios y el 99,9 % de los negocios afectados: se comparan agregados —cuántos prestadores inscritos hay y cuántos reportes de daño se recibieron—, sin depender de emparejar nombres.</a:t>
            </a:r>
            <a:endParaRPr lang="en-US" sz="1100" dirty="0"/>
          </a:p>
          <a:p>
            <a:pPr marL="342900" indent="-342900">
              <a:lnSpc>
                <a:spcPts val="1562"/>
              </a:lnSpc>
              <a:spcAft>
                <a:spcPts val="900"/>
              </a:spcAft>
              <a:buSzPct val="100000"/>
              <a:buChar char="•"/>
            </a:pPr>
            <a:r>
              <a:rPr lang="en-US" sz="1100" dirty="0">
                <a:solidFill>
                  <a:srgbClr val="1A1A1A"/>
                </a:solidFill>
                <a:latin typeface="Calibri" pitchFamily="34" charset="0"/>
                <a:ea typeface="Calibri" pitchFamily="34" charset="-122"/>
                <a:cs typeface="Calibri" pitchFamily="34" charset="-120"/>
              </a:rPr>
              <a:t>De ahí que «reportes por cada 100 inscritos» sea un indicador de comparación entre municipios y no una tasa de afectación del registro.</a:t>
            </a:r>
            <a:endParaRPr lang="en-US" sz="1100" dirty="0"/>
          </a:p>
        </p:txBody>
      </p:sp>
      <p:sp>
        <p:nvSpPr>
          <p:cNvPr id="11" name="Text 7"/>
          <p:cNvSpPr txBox="1"/>
          <p:nvPr/>
        </p:nvSpPr>
        <p:spPr>
          <a:xfrm>
            <a:off x="3337560" y="6291072"/>
            <a:ext cx="6400800" cy="274320"/>
          </a:xfrm>
          <a:prstGeom prst="rect">
            <a:avLst/>
          </a:prstGeom>
          <a:noFill/>
          <a:ln/>
        </p:spPr>
        <p:txBody>
          <a:bodyPr wrap="square" lIns="0" tIns="0" rIns="0" bIns="0" rtlCol="0" anchor="ctr"/>
          <a:lstStyle/>
          <a:p>
            <a:pPr marL="0" indent="0">
              <a:buNone/>
            </a:pPr>
            <a:r>
              <a:rPr lang="en-US" sz="900" i="1" dirty="0">
                <a:solidFill>
                  <a:srgbClr val="8A8A8A"/>
                </a:solidFill>
                <a:latin typeface="Calibri" pitchFamily="34" charset="0"/>
                <a:ea typeface="Calibri" pitchFamily="34" charset="-122"/>
                <a:cs typeface="Calibri" pitchFamily="34" charset="-120"/>
              </a:rPr>
              <a:t>Scripts reproducibles: cruce_rnt_0903.py, turismo_mun_0903.py, mapas_turismo.py, figuras_turismo.py, deck_turismo.js. El listado nominal establecimiento por establecimiento va en el Excel de base cruzada.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2245</Words>
  <Application>Microsoft Office PowerPoint</Application>
  <PresentationFormat>Panorámica</PresentationFormat>
  <Paragraphs>167</Paragraphs>
  <Slides>16</Slides>
  <Notes>16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16</vt:i4>
      </vt:variant>
    </vt:vector>
  </HeadingPairs>
  <TitlesOfParts>
    <vt:vector size="19"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Afectación de la cadena de valor del turismo</dc:title>
  <dc:subject>PptxGenJS Presentation</dc:subject>
  <dc:creator>Observatorio de Turismo · Valle del Cauca</dc:creator>
  <cp:lastModifiedBy>USUARIO</cp:lastModifiedBy>
  <cp:revision>2</cp:revision>
  <dcterms:created xsi:type="dcterms:W3CDTF">2026-09-21T17:38:21Z</dcterms:created>
  <dcterms:modified xsi:type="dcterms:W3CDTF">2026-09-21T17:42:05Z</dcterms:modified>
</cp:coreProperties>
</file>