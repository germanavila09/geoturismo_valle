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complementario al censo de empresas de turismo afectadas. Cifras recalculadas sobre el corte del 3 de septiembre, depurado de doble notificación. El RNT se compara por municipio, no estableciendo por establecimiento.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tramo de empleo es un conteo exacto de establecimientos. La cifra de empleos (3.281 a 10.275 en el departamento) es un intervalo porque los rangos no permiten sumar exacto, y por eso no se grafica aquí.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variable «Pérdidas económicas» se declara en cuatro rangos. La suma solo puede acotarse por abajo, porque el tramo «más de $100 millones» no tiene techo. 1.551 de los 1.839 negocios turísticos respondieron esta pregunta.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ranja_agu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2935224" cy="6858000"/>
          </a:xfrm>
          <a:prstGeom prst="rect">
            <a:avLst/>
          </a:prstGeom>
        </p:spPr>
      </p:pic>
      <p:pic>
        <p:nvPicPr>
          <p:cNvPr id="3" name="Image 1" descr="logos_go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6089904"/>
            <a:ext cx="2057400" cy="5486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337560" y="160020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OBSERVATORIO DE TURISMO · VALLE DEL CAUCA</a:t>
            </a:r>
            <a:endParaRPr lang="en-US" sz="1250" dirty="0"/>
          </a:p>
        </p:txBody>
      </p:sp>
      <p:sp>
        <p:nvSpPr>
          <p:cNvPr id="5" name="Text 1"/>
          <p:cNvSpPr txBox="1"/>
          <p:nvPr/>
        </p:nvSpPr>
        <p:spPr>
          <a:xfrm>
            <a:off x="3337560" y="2011680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cadena de valor del turismo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del terremoto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3337560" y="35204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 de afectación y Registro Nacional de Turismo, municipio a municipio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3337560" y="416052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1.839 negocios turísticos afectados en 42 municipios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62,8 % en nivel crítico o grave  ·  1.161 con empleo comprometido (63,1 %)  ·  $18.470 millones en pérdidas declaradas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3337560" y="5212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3 de septiembre de 2026 · sismo del 10 de agosto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ranja_sombre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2935224" cy="6858000"/>
          </a:xfrm>
          <a:prstGeom prst="rect">
            <a:avLst/>
          </a:prstGeom>
        </p:spPr>
      </p:pic>
      <p:pic>
        <p:nvPicPr>
          <p:cNvPr id="3" name="Image 1" descr="logos_go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6089904"/>
            <a:ext cx="2057400" cy="5486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3375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cifras que resumen el impacto</a:t>
            </a:r>
            <a:endParaRPr lang="en-US" sz="2500" dirty="0"/>
          </a:p>
        </p:txBody>
      </p:sp>
      <p:sp>
        <p:nvSpPr>
          <p:cNvPr id="5" name="Text 1"/>
          <p:cNvSpPr txBox="1"/>
          <p:nvPr/>
        </p:nvSpPr>
        <p:spPr>
          <a:xfrm>
            <a:off x="3337560" y="89611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Alojamiento, comida y transporte · 1.839 de los 14.873 establecimientos del censo</a:t>
            </a:r>
            <a:endParaRPr lang="en-US" sz="1250" dirty="0"/>
          </a:p>
        </p:txBody>
      </p:sp>
      <p:sp>
        <p:nvSpPr>
          <p:cNvPr id="6" name="Shape 2"/>
          <p:cNvSpPr/>
          <p:nvPr/>
        </p:nvSpPr>
        <p:spPr>
          <a:xfrm>
            <a:off x="3337560" y="1444752"/>
            <a:ext cx="265176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6DFCB"/>
            </a:solidFill>
            <a:prstDash val="solid"/>
          </a:ln>
          <a:effectLst>
            <a:outerShdw sx="100000" sy="100000" kx="0" ky="0" algn="bl" rotWithShape="0" blurRad="76200" dist="12700" dir="5400000">
              <a:srgbClr val="C9BFA5">
                <a:alpha val="30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3483864" y="1572768"/>
            <a:ext cx="2359152" cy="68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1.839</a:t>
            </a:r>
            <a:endParaRPr lang="en-US" sz="3000" dirty="0"/>
          </a:p>
        </p:txBody>
      </p:sp>
      <p:sp>
        <p:nvSpPr>
          <p:cNvPr id="8" name="Text 4"/>
          <p:cNvSpPr txBox="1"/>
          <p:nvPr/>
        </p:nvSpPr>
        <p:spPr>
          <a:xfrm>
            <a:off x="3483864" y="2185416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Negocios afectados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3483864" y="2511308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12,4 % del censo total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6217920" y="1444752"/>
            <a:ext cx="265176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6DFCB"/>
            </a:solidFill>
            <a:prstDash val="solid"/>
          </a:ln>
          <a:effectLst>
            <a:outerShdw sx="100000" sy="100000" kx="0" ky="0" algn="bl" rotWithShape="0" blurRad="76200" dist="12700" dir="5400000">
              <a:srgbClr val="C9BFA5">
                <a:alpha val="30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6364224" y="1572768"/>
            <a:ext cx="2359152" cy="68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62,8 %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6364224" y="2185416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nivel crítico o grave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6364224" y="2511308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1.154 establecimientos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9098280" y="1444752"/>
            <a:ext cx="265176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6DFCB"/>
            </a:solidFill>
            <a:prstDash val="solid"/>
          </a:ln>
          <a:effectLst>
            <a:outerShdw sx="100000" sy="100000" kx="0" ky="0" algn="bl" rotWithShape="0" blurRad="76200" dist="12700" dir="5400000">
              <a:srgbClr val="C9BFA5">
                <a:alpha val="30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9244584" y="1572768"/>
            <a:ext cx="2359152" cy="68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35,5 %</a:t>
            </a:r>
            <a:endParaRPr lang="en-US" sz="3000" dirty="0"/>
          </a:p>
        </p:txBody>
      </p:sp>
      <p:sp>
        <p:nvSpPr>
          <p:cNvPr id="16" name="Text 12"/>
          <p:cNvSpPr txBox="1"/>
          <p:nvPr/>
        </p:nvSpPr>
        <p:spPr>
          <a:xfrm>
            <a:off x="9244584" y="2185416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puede operar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9244584" y="2511308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552 de 1.557 que informan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337560" y="3182112"/>
            <a:ext cx="265176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6DFCB"/>
            </a:solidFill>
            <a:prstDash val="solid"/>
          </a:ln>
          <a:effectLst>
            <a:outerShdw sx="100000" sy="100000" kx="0" ky="0" algn="bl" rotWithShape="0" blurRad="76200" dist="12700" dir="5400000">
              <a:srgbClr val="C9BFA5">
                <a:alpha val="30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3483864" y="3310128"/>
            <a:ext cx="2359152" cy="68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1.161</a:t>
            </a:r>
            <a:endParaRPr lang="en-US" sz="3000" dirty="0"/>
          </a:p>
        </p:txBody>
      </p:sp>
      <p:sp>
        <p:nvSpPr>
          <p:cNvPr id="20" name="Text 16"/>
          <p:cNvSpPr txBox="1"/>
          <p:nvPr/>
        </p:nvSpPr>
        <p:spPr>
          <a:xfrm>
            <a:off x="3483864" y="3922776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empleo en riesgo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3483864" y="4248668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63,1 % de los 1.839 · 81,0 % de los 1.434 que responden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217920" y="3182112"/>
            <a:ext cx="265176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6DFCB"/>
            </a:solidFill>
            <a:prstDash val="solid"/>
          </a:ln>
          <a:effectLst>
            <a:outerShdw sx="100000" sy="100000" kx="0" ky="0" algn="bl" rotWithShape="0" blurRad="76200" dist="12700" dir="5400000">
              <a:srgbClr val="C9BFA5">
                <a:alpha val="30000"/>
              </a:srgbClr>
            </a:outerShdw>
          </a:effectLst>
        </p:spPr>
      </p:sp>
      <p:sp>
        <p:nvSpPr>
          <p:cNvPr id="23" name="Text 19"/>
          <p:cNvSpPr txBox="1"/>
          <p:nvPr/>
        </p:nvSpPr>
        <p:spPr>
          <a:xfrm>
            <a:off x="6364224" y="3310128"/>
            <a:ext cx="2359152" cy="68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$18.470 M</a:t>
            </a:r>
            <a:endParaRPr lang="en-US" sz="3000" dirty="0"/>
          </a:p>
        </p:txBody>
      </p:sp>
      <p:sp>
        <p:nvSpPr>
          <p:cNvPr id="24" name="Text 20"/>
          <p:cNvSpPr txBox="1"/>
          <p:nvPr/>
        </p:nvSpPr>
        <p:spPr>
          <a:xfrm>
            <a:off x="6364224" y="3922776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Pérdidas declaradas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6364224" y="4248668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piso; 89 sin techo declarado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9098280" y="3182112"/>
            <a:ext cx="265176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6DFCB"/>
            </a:solidFill>
            <a:prstDash val="solid"/>
          </a:ln>
          <a:effectLst>
            <a:outerShdw sx="100000" sy="100000" kx="0" ky="0" algn="bl" rotWithShape="0" blurRad="76200" dist="12700" dir="5400000">
              <a:srgbClr val="C9BFA5">
                <a:alpha val="30000"/>
              </a:srgbClr>
            </a:outerShdw>
          </a:effectLst>
        </p:spPr>
      </p:sp>
      <p:sp>
        <p:nvSpPr>
          <p:cNvPr id="27" name="Text 23"/>
          <p:cNvSpPr txBox="1"/>
          <p:nvPr/>
        </p:nvSpPr>
        <p:spPr>
          <a:xfrm>
            <a:off x="9244584" y="3310128"/>
            <a:ext cx="2359152" cy="68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7.709</a:t>
            </a:r>
            <a:endParaRPr lang="en-US" sz="3000" dirty="0"/>
          </a:p>
        </p:txBody>
      </p:sp>
      <p:sp>
        <p:nvSpPr>
          <p:cNvPr id="28" name="Text 24"/>
          <p:cNvSpPr txBox="1"/>
          <p:nvPr/>
        </p:nvSpPr>
        <p:spPr>
          <a:xfrm>
            <a:off x="9244584" y="3922776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Prestadores con RNT</a:t>
            </a:r>
            <a:endParaRPr lang="en-US" sz="1150" dirty="0"/>
          </a:p>
        </p:txBody>
      </p:sp>
      <p:sp>
        <p:nvSpPr>
          <p:cNvPr id="29" name="Text 25"/>
          <p:cNvSpPr txBox="1"/>
          <p:nvPr/>
        </p:nvSpPr>
        <p:spPr>
          <a:xfrm>
            <a:off x="9244584" y="4248668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formal vigente 2026</a:t>
            </a:r>
            <a:endParaRPr lang="en-US" sz="950" dirty="0"/>
          </a:p>
        </p:txBody>
      </p:sp>
      <p:sp>
        <p:nvSpPr>
          <p:cNvPr id="30" name="Text 26"/>
          <p:cNvSpPr txBox="1"/>
          <p:nvPr/>
        </p:nvSpPr>
        <p:spPr>
          <a:xfrm>
            <a:off x="3337560" y="48920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Lectura.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turismo es el 12,4 % de los establecimientos que reportaron daño, pero aporta el 13,9 % de las pérdidas declaradas y está peor que el promedio en los cuatro indicadores.</a:t>
            </a:r>
            <a:endParaRPr lang="en-US" sz="1250" dirty="0"/>
          </a:p>
        </p:txBody>
      </p:sp>
      <p:sp>
        <p:nvSpPr>
          <p:cNvPr id="31" name="Text 27"/>
          <p:cNvSpPr txBox="1"/>
          <p:nvPr/>
        </p:nvSpPr>
        <p:spPr>
          <a:xfrm>
            <a:off x="3337560" y="62910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depurada de doble notificación · corte 3 de septiembre de 2026 · 15.645 reportes recibidos, 772 dobles notificaciones retiradas.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ranja_muj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2935224" cy="6858000"/>
          </a:xfrm>
          <a:prstGeom prst="rect">
            <a:avLst/>
          </a:prstGeom>
        </p:spPr>
      </p:pic>
      <p:pic>
        <p:nvPicPr>
          <p:cNvPr id="3" name="Image 1" descr="logos_go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6089904"/>
            <a:ext cx="2057400" cy="5486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3375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está la oferta turística formal</a:t>
            </a:r>
            <a:endParaRPr lang="en-US" sz="2500" dirty="0"/>
          </a:p>
        </p:txBody>
      </p:sp>
      <p:sp>
        <p:nvSpPr>
          <p:cNvPr id="5" name="Text 1"/>
          <p:cNvSpPr txBox="1"/>
          <p:nvPr/>
        </p:nvSpPr>
        <p:spPr>
          <a:xfrm>
            <a:off x="3337560" y="89611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7.709 prestadores con RNT vigente 2026 · 20.217 empleos declarados al registro</a:t>
            </a:r>
            <a:endParaRPr lang="en-US" sz="1250" dirty="0"/>
          </a:p>
        </p:txBody>
      </p:sp>
      <p:pic>
        <p:nvPicPr>
          <p:cNvPr id="6" name="Image 2" descr="mt4_ofer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2348" y="1261872"/>
            <a:ext cx="4731104" cy="498348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9006840" y="1325880"/>
            <a:ext cx="265176" cy="26517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8" name="Text 3"/>
          <p:cNvSpPr txBox="1"/>
          <p:nvPr/>
        </p:nvSpPr>
        <p:spPr>
          <a:xfrm>
            <a:off x="9006840" y="1325880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9372600" y="12618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registro se concentra en Cali</a:t>
            </a:r>
            <a:endParaRPr lang="en-US" sz="1150" dirty="0"/>
          </a:p>
        </p:txBody>
      </p:sp>
      <p:sp>
        <p:nvSpPr>
          <p:cNvPr id="10" name="Text 5"/>
          <p:cNvSpPr txBox="1"/>
          <p:nvPr/>
        </p:nvSpPr>
        <p:spPr>
          <a:xfrm>
            <a:off x="9372600" y="1773936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4.500 de los 7.709 prestadores están en la capital (58,4 %). Le siguen Palmira con 461, Buga con 308 y Calima con 268.</a:t>
            </a:r>
            <a:endParaRPr lang="en-US" sz="1050" dirty="0"/>
          </a:p>
        </p:txBody>
      </p:sp>
      <p:sp>
        <p:nvSpPr>
          <p:cNvPr id="11" name="Shape 6"/>
          <p:cNvSpPr/>
          <p:nvPr/>
        </p:nvSpPr>
        <p:spPr>
          <a:xfrm>
            <a:off x="9006840" y="2953512"/>
            <a:ext cx="265176" cy="26517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9006840" y="2953512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9372600" y="288950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la mitad son viviendas turísticas</a:t>
            </a:r>
            <a:endParaRPr lang="en-US" sz="1150" dirty="0"/>
          </a:p>
        </p:txBody>
      </p:sp>
      <p:sp>
        <p:nvSpPr>
          <p:cNvPr id="14" name="Text 9"/>
          <p:cNvSpPr txBox="1"/>
          <p:nvPr/>
        </p:nvSpPr>
        <p:spPr>
          <a:xfrm>
            <a:off x="9372600" y="3401568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4.226 de 7.709 (54,8 %), seguidas de agencias de viajes (1.692) y alojamiento turístico (1.057).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9006840" y="4581144"/>
            <a:ext cx="265176" cy="26517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9006840" y="4581144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9372600" y="451713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RNT se renueva cada año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9372600" y="502920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«Vigente» significa corte 2026. Los 16.307 códigos históricos incluyen registros caducados y no representan oferta activa.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3337560" y="62910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Nacional de Turismo · Valle del Cauca · corte 2026.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ranja_agu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2935224" cy="6858000"/>
          </a:xfrm>
          <a:prstGeom prst="rect">
            <a:avLst/>
          </a:prstGeom>
        </p:spPr>
      </p:pic>
      <p:pic>
        <p:nvPicPr>
          <p:cNvPr id="3" name="Image 1" descr="logos_go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6089904"/>
            <a:ext cx="2057400" cy="5486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3375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Negocios turísticos afectados por municipio</a:t>
            </a:r>
            <a:endParaRPr lang="en-US" sz="2500" dirty="0"/>
          </a:p>
        </p:txBody>
      </p:sp>
      <p:sp>
        <p:nvSpPr>
          <p:cNvPr id="5" name="Text 1"/>
          <p:cNvSpPr txBox="1"/>
          <p:nvPr/>
        </p:nvSpPr>
        <p:spPr>
          <a:xfrm>
            <a:off x="3337560" y="89611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1.839 establecimientos de alojamiento, comida y transporte reportaron daño</a:t>
            </a:r>
            <a:endParaRPr lang="en-US" sz="1250" dirty="0"/>
          </a:p>
        </p:txBody>
      </p:sp>
      <p:pic>
        <p:nvPicPr>
          <p:cNvPr id="6" name="Image 2" descr="mt1_afectado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2348" y="1261872"/>
            <a:ext cx="4731104" cy="498348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9006840" y="1325880"/>
            <a:ext cx="265176" cy="265176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8" name="Text 3"/>
          <p:cNvSpPr txBox="1"/>
          <p:nvPr/>
        </p:nvSpPr>
        <p:spPr>
          <a:xfrm>
            <a:off x="9006840" y="1325880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9372600" y="12618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Cali, Buenaventura y Roldanillo concentran el volumen</a:t>
            </a:r>
            <a:endParaRPr lang="en-US" sz="1150" dirty="0"/>
          </a:p>
        </p:txBody>
      </p:sp>
      <p:sp>
        <p:nvSpPr>
          <p:cNvPr id="10" name="Text 5"/>
          <p:cNvSpPr txBox="1"/>
          <p:nvPr/>
        </p:nvSpPr>
        <p:spPr>
          <a:xfrm>
            <a:off x="9372600" y="1773936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738, 143 y 119 reportes: entre los tres suman el 54,4 % del total departamental.</a:t>
            </a:r>
            <a:endParaRPr lang="en-US" sz="1050" dirty="0"/>
          </a:p>
        </p:txBody>
      </p:sp>
      <p:sp>
        <p:nvSpPr>
          <p:cNvPr id="11" name="Shape 6"/>
          <p:cNvSpPr/>
          <p:nvPr/>
        </p:nvSpPr>
        <p:spPr>
          <a:xfrm>
            <a:off x="9006840" y="2953512"/>
            <a:ext cx="265176" cy="26517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9006840" y="2953512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9372600" y="288950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norte aparece completo</a:t>
            </a:r>
            <a:endParaRPr lang="en-US" sz="1150" dirty="0"/>
          </a:p>
        </p:txBody>
      </p:sp>
      <p:sp>
        <p:nvSpPr>
          <p:cNvPr id="14" name="Text 9"/>
          <p:cNvSpPr txBox="1"/>
          <p:nvPr/>
        </p:nvSpPr>
        <p:spPr>
          <a:xfrm>
            <a:off x="9372600" y="3401568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Cartago, Sevilla, Alcalá, Caicedonia, La Unión, Zarzal, Versalles y Ansermanuevo forman un bloque continuo de veinte o más reportes cada uno.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9006840" y="4581144"/>
            <a:ext cx="265176" cy="26517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9006840" y="4581144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9372600" y="451713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sur casi no reporta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9372600" y="502920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 (1), Candelaria (1) y Pradera (2) suman 4 reportes turísticos entre los tres.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3337560" y="62910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municipio muestra su nombre y su número de reportes. Geometría: DANE.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ranja_sombre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2935224" cy="6858000"/>
          </a:xfrm>
          <a:prstGeom prst="rect">
            <a:avLst/>
          </a:prstGeom>
        </p:spPr>
      </p:pic>
      <p:pic>
        <p:nvPicPr>
          <p:cNvPr id="3" name="Image 1" descr="logos_go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6089904"/>
            <a:ext cx="2057400" cy="5486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3375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quince municipios con más negocios afectados, sin Cali</a:t>
            </a:r>
            <a:endParaRPr lang="en-US" sz="2500" dirty="0"/>
          </a:p>
        </p:txBody>
      </p:sp>
      <p:sp>
        <p:nvSpPr>
          <p:cNvPr id="5" name="Text 1"/>
          <p:cNvSpPr txBox="1"/>
          <p:nvPr/>
        </p:nvSpPr>
        <p:spPr>
          <a:xfrm>
            <a:off x="3337560" y="89611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 aparte con 738 reportes y 64,4 % en nivel crítico o grave</a:t>
            </a:r>
            <a:endParaRPr lang="en-US" sz="1250" dirty="0"/>
          </a:p>
        </p:txBody>
      </p:sp>
      <p:pic>
        <p:nvPicPr>
          <p:cNvPr id="6" name="Image 2" descr="t1_severid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0687" y="1325880"/>
            <a:ext cx="8086226" cy="470916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3337560" y="62910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afectación declarado por el establecimiento en el censo. 19 de los 1.839 reportes turísticos declaran no haber sufrido afectación y se muestran aparte en la barra.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ranja_muj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2935224" cy="6858000"/>
          </a:xfrm>
          <a:prstGeom prst="rect">
            <a:avLst/>
          </a:prstGeom>
        </p:spPr>
      </p:pic>
      <p:pic>
        <p:nvPicPr>
          <p:cNvPr id="3" name="Image 1" descr="logos_go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6089904"/>
            <a:ext cx="2057400" cy="5486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3375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del daño frente al tamaño de la oferta formal</a:t>
            </a:r>
            <a:endParaRPr lang="en-US" sz="2500" dirty="0"/>
          </a:p>
        </p:txBody>
      </p:sp>
      <p:sp>
        <p:nvSpPr>
          <p:cNvPr id="5" name="Text 1"/>
          <p:cNvSpPr txBox="1"/>
          <p:nvPr/>
        </p:nvSpPr>
        <p:spPr>
          <a:xfrm>
            <a:off x="3337560" y="89611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turísticos por cada 100 prestadores con RNT vigente en el municipio</a:t>
            </a:r>
            <a:endParaRPr lang="en-US" sz="1250" dirty="0"/>
          </a:p>
        </p:txBody>
      </p:sp>
      <p:pic>
        <p:nvPicPr>
          <p:cNvPr id="6" name="Image 2" descr="mt2_intensid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2348" y="1261872"/>
            <a:ext cx="4731104" cy="498348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9006840" y="1325880"/>
            <a:ext cx="265176" cy="265176"/>
          </a:xfrm>
          <a:prstGeom prst="ellipse">
            <a:avLst/>
          </a:prstGeom>
          <a:solidFill>
            <a:srgbClr val="6D28A8"/>
          </a:solidFill>
          <a:ln/>
        </p:spPr>
      </p:sp>
      <p:sp>
        <p:nvSpPr>
          <p:cNvPr id="8" name="Text 3"/>
          <p:cNvSpPr txBox="1"/>
          <p:nvPr/>
        </p:nvSpPr>
        <p:spPr>
          <a:xfrm>
            <a:off x="9006840" y="1325880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9372600" y="12618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corredor norte concentra la intensidad</a:t>
            </a:r>
            <a:endParaRPr lang="en-US" sz="1150" dirty="0"/>
          </a:p>
        </p:txBody>
      </p:sp>
      <p:sp>
        <p:nvSpPr>
          <p:cNvPr id="10" name="Text 5"/>
          <p:cNvSpPr txBox="1"/>
          <p:nvPr/>
        </p:nvSpPr>
        <p:spPr>
          <a:xfrm>
            <a:off x="9372600" y="1773936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Dovio (400), El Águila (300), El Cairo (357), Argelia (300) y Versalles (200) reportan mucho más daño del que su registro formal haría esperar.</a:t>
            </a:r>
            <a:endParaRPr lang="en-US" sz="1050" dirty="0"/>
          </a:p>
        </p:txBody>
      </p:sp>
      <p:sp>
        <p:nvSpPr>
          <p:cNvPr id="11" name="Shape 6"/>
          <p:cNvSpPr/>
          <p:nvPr/>
        </p:nvSpPr>
        <p:spPr>
          <a:xfrm>
            <a:off x="9006840" y="2953512"/>
            <a:ext cx="265176" cy="26517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9006840" y="2953512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9372600" y="288950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 y Palmira están en el extremo opuesto</a:t>
            </a:r>
            <a:endParaRPr lang="en-US" sz="1150" dirty="0"/>
          </a:p>
        </p:txBody>
      </p:sp>
      <p:sp>
        <p:nvSpPr>
          <p:cNvPr id="14" name="Text 9"/>
          <p:cNvSpPr txBox="1"/>
          <p:nvPr/>
        </p:nvSpPr>
        <p:spPr>
          <a:xfrm>
            <a:off x="9372600" y="3401568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y 5 reportes por cada 100 inscritos, frente a 23,9 del departamento. Concentran la oferta, no la intensidad del daño.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9006840" y="4581144"/>
            <a:ext cx="265176" cy="26517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9006840" y="4581144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9372600" y="451713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el porcentaje del RNT afectado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9372600" y="502920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censo incluye negocios sin RNT y el registro incluye viviendas turísticas que casi nunca reportan. El indicador compara municipios entre sí, no mide una tasa.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3337560" y="62910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 de afectación (3 sep) y RNT vigente 2026, agregados por municipio.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ranja_agu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2935224" cy="6858000"/>
          </a:xfrm>
          <a:prstGeom prst="rect">
            <a:avLst/>
          </a:prstGeom>
        </p:spPr>
      </p:pic>
      <p:pic>
        <p:nvPicPr>
          <p:cNvPr id="3" name="Image 1" descr="logos_go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6089904"/>
            <a:ext cx="2057400" cy="5486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3375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 declarada por el sector turístico</a:t>
            </a:r>
            <a:endParaRPr lang="en-US" sz="2500" dirty="0"/>
          </a:p>
        </p:txBody>
      </p:sp>
      <p:sp>
        <p:nvSpPr>
          <p:cNvPr id="5" name="Text 1"/>
          <p:cNvSpPr txBox="1"/>
          <p:nvPr/>
        </p:nvSpPr>
        <p:spPr>
          <a:xfrm>
            <a:off x="3337560" y="89611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62,8 % departamental en nivel crítico o grave, frente a 55,6 % de toda la economía</a:t>
            </a:r>
            <a:endParaRPr lang="en-US" sz="1250" dirty="0"/>
          </a:p>
        </p:txBody>
      </p:sp>
      <p:pic>
        <p:nvPicPr>
          <p:cNvPr id="6" name="Image 2" descr="mt3_severid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2348" y="1261872"/>
            <a:ext cx="4731104" cy="498348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9006840" y="1325880"/>
            <a:ext cx="265176" cy="265176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8" name="Text 3"/>
          <p:cNvSpPr txBox="1"/>
          <p:nvPr/>
        </p:nvSpPr>
        <p:spPr>
          <a:xfrm>
            <a:off x="9006840" y="1325880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9372600" y="12618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norte alto es el más severo</a:t>
            </a:r>
            <a:endParaRPr lang="en-US" sz="1150" dirty="0"/>
          </a:p>
        </p:txBody>
      </p:sp>
      <p:sp>
        <p:nvSpPr>
          <p:cNvPr id="10" name="Text 5"/>
          <p:cNvSpPr txBox="1"/>
          <p:nvPr/>
        </p:nvSpPr>
        <p:spPr>
          <a:xfrm>
            <a:off x="9372600" y="1773936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al menos quince reportes, encabezan Caicedonia (82 %), Sevilla (77 %), Argelia (76 %), El Cairo (76 %). Todos por encima del 62,8 % departamental.</a:t>
            </a:r>
            <a:endParaRPr lang="en-US" sz="1050" dirty="0"/>
          </a:p>
        </p:txBody>
      </p:sp>
      <p:sp>
        <p:nvSpPr>
          <p:cNvPr id="11" name="Shape 6"/>
          <p:cNvSpPr/>
          <p:nvPr/>
        </p:nvSpPr>
        <p:spPr>
          <a:xfrm>
            <a:off x="9006840" y="2953512"/>
            <a:ext cx="265176" cy="26517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9006840" y="2953512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9372600" y="288950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Buenaventura combina volumen e intensidad</a:t>
            </a:r>
            <a:endParaRPr lang="en-US" sz="1150" dirty="0"/>
          </a:p>
        </p:txBody>
      </p:sp>
      <p:sp>
        <p:nvSpPr>
          <p:cNvPr id="14" name="Text 9"/>
          <p:cNvSpPr txBox="1"/>
          <p:nvPr/>
        </p:nvSpPr>
        <p:spPr>
          <a:xfrm>
            <a:off x="9372600" y="3401568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 reportes con 70 % en nivel crítico o grave: es el único municipio que está arriba en las dos lecturas.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9006840" y="4581144"/>
            <a:ext cx="265176" cy="26517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9006840" y="4581144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9372600" y="451713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con los municipios de pocos reportes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9372600" y="502920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Cerrito marca 100 % sobre 5 reportes y Candelaria 0 % sobre 1. En esos casos el porcentaje describe un puñado de casos, no al municipio.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3337560" y="62910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Porcentaje calculado sobre los reportes turísticos de cada municipio.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ranja_sombre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2935224" cy="6858000"/>
          </a:xfrm>
          <a:prstGeom prst="rect">
            <a:avLst/>
          </a:prstGeom>
        </p:spPr>
      </p:pic>
      <p:pic>
        <p:nvPicPr>
          <p:cNvPr id="3" name="Image 1" descr="logos_go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6089904"/>
            <a:ext cx="2057400" cy="5486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3375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Empleo comprometido y pérdidas declaradas</a:t>
            </a:r>
            <a:endParaRPr lang="en-US" sz="2500" dirty="0"/>
          </a:p>
        </p:txBody>
      </p:sp>
      <p:sp>
        <p:nvSpPr>
          <p:cNvPr id="5" name="Text 1"/>
          <p:cNvSpPr txBox="1"/>
          <p:nvPr/>
        </p:nvSpPr>
        <p:spPr>
          <a:xfrm>
            <a:off x="3337560" y="89611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1.161 negocios con empleo comprometido · 81,0 % de los 1.434 que responden la pregunta · 63,1 % de los 1.839 afectados</a:t>
            </a:r>
            <a:endParaRPr lang="en-US" sz="1250" dirty="0"/>
          </a:p>
        </p:txBody>
      </p:sp>
      <p:pic>
        <p:nvPicPr>
          <p:cNvPr id="6" name="Image 2" descr="t3_empleo_perdida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224" y="1298448"/>
            <a:ext cx="7925152" cy="41148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3337560" y="550468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empleo en riesgo está pulverizado.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80,8 % de esos negocios reporta entre uno y cinco puestos, y solo 37 en todo el departamento reportan más de veinte. Son muchísimos establecimientos con pocos empleos cada uno, no unas pocas empresas grandes: eso define el tamaño del subsidio y el número de operaciones, no el monto total.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3337560" y="62910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tramos cuentan negocios, no empleos: la encuesta pregunta por rangos. 405 de los 1.839 negocios turísticos dejaron esta pregunta en blanco y quedan fuera del porcentaje sobre quienes responden.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ranja_agu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2935224" cy="6858000"/>
          </a:xfrm>
          <a:prstGeom prst="rect">
            <a:avLst/>
          </a:prstGeom>
        </p:spPr>
      </p:pic>
      <p:pic>
        <p:nvPicPr>
          <p:cNvPr id="3" name="Image 1" descr="logos_go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6089904"/>
            <a:ext cx="2057400" cy="5486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3375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Pérdidas estimadas por municipio</a:t>
            </a:r>
            <a:endParaRPr lang="en-US" sz="2500" dirty="0"/>
          </a:p>
        </p:txBody>
      </p:sp>
      <p:sp>
        <p:nvSpPr>
          <p:cNvPr id="5" name="Text 1"/>
          <p:cNvSpPr txBox="1"/>
          <p:nvPr/>
        </p:nvSpPr>
        <p:spPr>
          <a:xfrm>
            <a:off x="3337560" y="89611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$18.470 millones declarados por la cadena turística · cota inferior</a:t>
            </a:r>
            <a:endParaRPr lang="en-US" sz="1250" dirty="0"/>
          </a:p>
        </p:txBody>
      </p:sp>
      <p:pic>
        <p:nvPicPr>
          <p:cNvPr id="6" name="Image 2" descr="mt5_perdida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7649" y="1207008"/>
            <a:ext cx="4340463" cy="4572000"/>
          </a:xfrm>
          <a:prstGeom prst="rect">
            <a:avLst/>
          </a:prstGeom>
        </p:spPr>
      </p:pic>
      <p:pic>
        <p:nvPicPr>
          <p:cNvPr id="7" name="Image 3" descr="mt5_rank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0" y="1833448"/>
            <a:ext cx="3063240" cy="3319119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3337560" y="58521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municipios concentran el 69,1 % de las pérdidas.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 aporta 45,4 %, Buenaventura 9,3 % y Roldanillo 7,8 %, que con 119 negocios declara el 84 % de lo que declara Buenaventura, que tiene 143.</a:t>
            </a:r>
            <a:endParaRPr lang="en-US" sz="1150" dirty="0"/>
          </a:p>
        </p:txBody>
      </p:sp>
      <p:sp>
        <p:nvSpPr>
          <p:cNvPr id="9" name="Text 3"/>
          <p:cNvSpPr txBox="1"/>
          <p:nvPr/>
        </p:nvSpPr>
        <p:spPr>
          <a:xfrm>
            <a:off x="3337560" y="62910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inferior: piso de cada rango declarado más $100 millones por cada uno de los 89 reportes del tramo abierto. El daño real es mayor.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ranja_muj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2935224" cy="6858000"/>
          </a:xfrm>
          <a:prstGeom prst="rect">
            <a:avLst/>
          </a:prstGeom>
        </p:spPr>
      </p:pic>
      <p:pic>
        <p:nvPicPr>
          <p:cNvPr id="3" name="Image 1" descr="logos_go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6089904"/>
            <a:ext cx="2057400" cy="5486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3375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alivios pide el sector</a:t>
            </a:r>
            <a:endParaRPr lang="en-US" sz="2500" dirty="0"/>
          </a:p>
        </p:txBody>
      </p:sp>
      <p:sp>
        <p:nvSpPr>
          <p:cNvPr id="5" name="Text 1"/>
          <p:cNvSpPr txBox="1"/>
          <p:nvPr/>
        </p:nvSpPr>
        <p:spPr>
          <a:xfrm>
            <a:off x="3337560" y="89611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necesidad declarada y el instrumento financiero preferido</a:t>
            </a:r>
            <a:endParaRPr lang="en-US" sz="1250" dirty="0"/>
          </a:p>
        </p:txBody>
      </p:sp>
      <p:pic>
        <p:nvPicPr>
          <p:cNvPr id="6" name="Image 2" descr="t4_alivio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7132" y="1371600"/>
            <a:ext cx="8393336" cy="36576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3337560" y="5138928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turismo invierte el orden del resto de la economía.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departamento manda el capital de trabajo; en el turismo manda reparar instalaciones (49,7 % frente a 44,4 %). Un hotel o un restaurante no puede vender con el local dañado. Y el 60,1 % pide capital no reembolsable frente a 16,1 % que pide crédito.</a:t>
            </a:r>
            <a:endParaRPr lang="en-US" sz="1250" dirty="0"/>
          </a:p>
        </p:txBody>
      </p:sp>
      <p:sp>
        <p:nvSpPr>
          <p:cNvPr id="8" name="Text 3"/>
          <p:cNvSpPr txBox="1"/>
          <p:nvPr/>
        </p:nvSpPr>
        <p:spPr>
          <a:xfrm>
            <a:off x="3337560" y="62910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múltiple: los porcentajes no suman 100.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ranja_agu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2935224" cy="6858000"/>
          </a:xfrm>
          <a:prstGeom prst="rect">
            <a:avLst/>
          </a:prstGeom>
        </p:spPr>
      </p:pic>
      <p:pic>
        <p:nvPicPr>
          <p:cNvPr id="3" name="Image 1" descr="logos_go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6089904"/>
            <a:ext cx="2057400" cy="5486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3375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turismo quedó peor que el promedio de la economía</a:t>
            </a:r>
            <a:endParaRPr lang="en-US" sz="2500" dirty="0"/>
          </a:p>
        </p:txBody>
      </p:sp>
      <p:sp>
        <p:nvSpPr>
          <p:cNvPr id="5" name="Text 1"/>
          <p:cNvSpPr txBox="1"/>
          <p:nvPr/>
        </p:nvSpPr>
        <p:spPr>
          <a:xfrm>
            <a:off x="3337560" y="89611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Mismos indicadores, mismo corte, mismas bases de respuesta</a:t>
            </a:r>
            <a:endParaRPr lang="en-US" sz="1250" dirty="0"/>
          </a:p>
        </p:txBody>
      </p:sp>
      <p:pic>
        <p:nvPicPr>
          <p:cNvPr id="6" name="Image 2" descr="t5_contras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2011" y="1371600"/>
            <a:ext cx="7283578" cy="36576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3337560" y="5138928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más grande está en la severidad: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62,8 % de los negocios turísticos está en nivel crítico o grave, frente a 55,6 % del total de la economía. Son 7,2 puntos, sobre un sector que además vive de un flujo de visitantes que también se interrumpió.</a:t>
            </a:r>
            <a:endParaRPr lang="en-US" sz="1250" dirty="0"/>
          </a:p>
        </p:txBody>
      </p:sp>
      <p:sp>
        <p:nvSpPr>
          <p:cNvPr id="8" name="Text 3"/>
          <p:cNvSpPr txBox="1"/>
          <p:nvPr/>
        </p:nvSpPr>
        <p:spPr>
          <a:xfrm>
            <a:off x="3337560" y="62910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turística frente a los 14.873 establecimientos de todos los sectores.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ranja_sombre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2935224" cy="6858000"/>
          </a:xfrm>
          <a:prstGeom prst="rect">
            <a:avLst/>
          </a:prstGeom>
        </p:spPr>
      </p:pic>
      <p:pic>
        <p:nvPicPr>
          <p:cNvPr id="3" name="Image 1" descr="logos_go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6089904"/>
            <a:ext cx="2057400" cy="5486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3375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decisiones que se desprenden de estos datos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337560" y="1408176"/>
            <a:ext cx="310896" cy="310896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3337560" y="1408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3794760" y="13716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el alivio principal como capital no reembolsable con componente de obra.</a:t>
            </a:r>
            <a:endParaRPr lang="en-US" sz="1350" dirty="0"/>
          </a:p>
        </p:txBody>
      </p:sp>
      <p:sp>
        <p:nvSpPr>
          <p:cNvPr id="8" name="Text 4"/>
          <p:cNvSpPr txBox="1"/>
          <p:nvPr/>
        </p:nvSpPr>
        <p:spPr>
          <a:xfrm>
            <a:off x="3794760" y="16642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60,1 % lo pide así, y la necesidad número uno del sector es reparar instalaciones.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337560" y="2386584"/>
            <a:ext cx="310896" cy="310896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3337560" y="2386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3794760" y="23500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exigir RNT vigente como requisito de entrada.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3794760" y="2642616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censo recoge cualquier negocio turístico; el RNT tiene 7.709 inscritos y más de la mitad son viviendas turísticas. Condicionar el alivio al registro deja fuera al turismo informal, que es el que más reporta en el norte.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337560" y="3364992"/>
            <a:ext cx="310896" cy="31089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3337560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794760" y="332841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Atender el corredor norte por intensidad, no por volumen.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3794760" y="3621024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Cairo, Argelia, Toro, Versalles, Bugalagrande reportan entre 160 y 357 daños por cada 100 inscritos: son municipios pequeños que un ranking por totales esconde.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337560" y="4343400"/>
            <a:ext cx="310896" cy="31089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3337560" y="4343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3794760" y="430682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por qué el sur casi no reporta.</a:t>
            </a:r>
            <a:endParaRPr lang="en-US" sz="1350" dirty="0"/>
          </a:p>
        </p:txBody>
      </p:sp>
      <p:sp>
        <p:nvSpPr>
          <p:cNvPr id="20" name="Text 16"/>
          <p:cNvSpPr txBox="1"/>
          <p:nvPr/>
        </p:nvSpPr>
        <p:spPr>
          <a:xfrm>
            <a:off x="3794760" y="4599432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Florida, Candelaria y Pradera suman 4 reportes turísticos entre los tres. Antes de concluir que no hubo daño conviene verificar cómo se difundió el formulario.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337560" y="5321808"/>
            <a:ext cx="310896" cy="31089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3337560" y="5321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3794760" y="528523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el código RNT en el formulario de reporte.</a:t>
            </a:r>
            <a:endParaRPr lang="en-US" sz="1350" dirty="0"/>
          </a:p>
        </p:txBody>
      </p:sp>
      <p:sp>
        <p:nvSpPr>
          <p:cNvPr id="24" name="Text 20"/>
          <p:cNvSpPr txBox="1"/>
          <p:nvPr/>
        </p:nvSpPr>
        <p:spPr>
          <a:xfrm>
            <a:off x="3794760" y="557784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las dos bases solo pueden compararse por municipio. Un campo de RNT permitiría medir la afectación del registro establecimiento por establecimiento.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3337560" y="62910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Elaboración propia sobre el censo de afectación y el RNT vigente.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ranja_muj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2935224" cy="6858000"/>
          </a:xfrm>
          <a:prstGeom prst="rect">
            <a:avLst/>
          </a:prstGeom>
        </p:spPr>
      </p:pic>
      <p:pic>
        <p:nvPicPr>
          <p:cNvPr id="3" name="Image 1" descr="logos_go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6089904"/>
            <a:ext cx="2057400" cy="5486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3375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construyeron estas cifras</a:t>
            </a:r>
            <a:endParaRPr lang="en-US" sz="2500" dirty="0"/>
          </a:p>
        </p:txBody>
      </p:sp>
      <p:sp>
        <p:nvSpPr>
          <p:cNvPr id="5" name="Text 1"/>
          <p:cNvSpPr txBox="1"/>
          <p:nvPr/>
        </p:nvSpPr>
        <p:spPr>
          <a:xfrm>
            <a:off x="3337560" y="11155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3337560" y="1426464"/>
            <a:ext cx="8412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76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 de afectación empresarial · 14.873 establecimientos únicos tras depurar 772 dobles notificaciones sobre 15.645 reportes recibidos, corte 3 de septiembre de 2026.</a:t>
            </a:r>
            <a:endParaRPr lang="en-US" sz="1180" dirty="0"/>
          </a:p>
          <a:p>
            <a:pPr marL="342900" indent="-342900">
              <a:lnSpc>
                <a:spcPts val="1676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Nacional de Turismo del Valle · 7.709 prestadores vigentes 2026 en 41 municipios, 20.217 empleos declarados.</a:t>
            </a:r>
            <a:endParaRPr lang="en-US" sz="1180" dirty="0"/>
          </a:p>
        </p:txBody>
      </p:sp>
      <p:sp>
        <p:nvSpPr>
          <p:cNvPr id="7" name="Text 3"/>
          <p:cNvSpPr txBox="1"/>
          <p:nvPr/>
        </p:nvSpPr>
        <p:spPr>
          <a:xfrm>
            <a:off x="3337560" y="2468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cuenta como cadena de valor del turismo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3337560" y="2779776"/>
            <a:ext cx="8412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76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sectores «Alojamiento y servicios de comida» y «Transporte y almacenamiento» del censo: 1.839 establecimientos. Es el mismo criterio con el que se construyó la cifra ya socializada, aplicado a la base depurada.</a:t>
            </a:r>
            <a:endParaRPr lang="en-US" sz="1180" dirty="0"/>
          </a:p>
          <a:p>
            <a:pPr marL="342900" indent="-342900">
              <a:lnSpc>
                <a:spcPts val="1676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esos 1.839, 19 declaran no haber sufrido afectación. Se conservan en el universo para no romper la comparación con la cifra ya socializada, y quedan visibles como categoría propia en los gráficos.</a:t>
            </a:r>
            <a:endParaRPr lang="en-US" sz="1180" dirty="0"/>
          </a:p>
        </p:txBody>
      </p:sp>
      <p:sp>
        <p:nvSpPr>
          <p:cNvPr id="9" name="Text 5"/>
          <p:cNvSpPr txBox="1"/>
          <p:nvPr/>
        </p:nvSpPr>
        <p:spPr>
          <a:xfrm>
            <a:off x="3337560" y="42245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el cruce con el RNT es solo municipal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3337560" y="4535424"/>
            <a:ext cx="84124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62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bases no comparten identificador: el RNT no trae NIT. Emparejar por razón social uno a uno solo logra 95 coincidencias sobre 1.839 reportes (5,2 %), base insuficiente para decir nada por municipio.</a:t>
            </a:r>
            <a:endParaRPr lang="en-US" sz="1100" dirty="0"/>
          </a:p>
          <a:p>
            <a:pPr marL="342900" indent="-342900">
              <a:lnSpc>
                <a:spcPts val="1562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cruce municipal, en cambio, cubre 41 de los 42 municipios y el 99,9 % de los negocios afectados: se comparan agregados —cuántos prestadores inscritos hay y cuántos reportes de daño se recibieron—, sin depender de emparejar nombres.</a:t>
            </a:r>
            <a:endParaRPr lang="en-US" sz="1100" dirty="0"/>
          </a:p>
          <a:p>
            <a:pPr marL="342900" indent="-342900">
              <a:lnSpc>
                <a:spcPts val="1562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ahí que «reportes por cada 100 inscritos» sea un indicador de comparación entre municipios y no una tasa de afectación del registro.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3337560" y="62910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reproducibles: cruce_rnt_0903.py, turismo_mun_0903.py, mapas_turismo.py, figuras_turismo.py, deck_turismo.js. El listado nominal establecimiento por establecimiento va en el Excel de base cruzada.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Afectación de la cadena de valor del turismo</dc:title>
  <dc:subject>PptxGenJS Presentation</dc:subject>
  <dc:creator>Observatorio de Turismo · Valle del Cauca</dc:creator>
  <cp:lastModifiedBy>Observatorio de Turismo · Valle del Cauca</cp:lastModifiedBy>
  <cp:revision>1</cp:revision>
  <dcterms:created xsi:type="dcterms:W3CDTF">2026-09-21T17:22:34Z</dcterms:created>
  <dcterms:modified xsi:type="dcterms:W3CDTF">2026-09-21T17:22:34Z</dcterms:modified>
</cp:coreProperties>
</file>